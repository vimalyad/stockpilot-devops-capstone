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StockPilot, a multi warehouse inventory and procurement platform, built as an original DevOps capstone. The product follows a physical item from a supplier purchase through receiving, reservation, transfer and fulfilment. Around that product is a delivery platform using containers, Kubernetes, automated security gates, monitoring and infrastructure as code. This presentation explains the implemented design and the available verification. The diagrams are original illustrations, not screenshots of a live cluster. The audio is synthetic English narration.</a:t>
            </a:r>
          </a:p>
          <a:p/>
          <a:p>
            <a:r>
              <a:t>Source / provenance: README.md; backend/app/models.py; docs/DELIVERY.md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management is a demanding domain because several workflows compete for the same stock. A sales reservation promises units to a customer. A transfer moves those units between warehouses. A purchase order brings more units into the business. A simple counter is not enough. StockPilot keeps the available quantity separate from the physical quantity, makes transfers atomic, and records stock movement history. The architecture is designed to support multiple replicas, but no production capacity or load test result is claimed here.</a:t>
            </a:r>
          </a:p>
          <a:p/>
          <a:p>
            <a:r>
              <a:t>Source / provenance: backend/app/inventory.py; backend/app/orders.py; backend/app/models.py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 deliberately uses several technology stacks with clear responsibilities. React and TypeScript provide the operational interface. FastAPI, SQLAlchemy and Alembic handle validated requests, database access and schema evolution. PostgreSQL owns durable inventory records. Redis and Celery support background report generation, rather than owning authoritative stock. Docker and Helm package the runtime. GitHub Actions defines delivery gates, Argo CD reconciles desired state, and Terraform describes the cloud infrastructure. Each technology serves an identifiable part of the workflow.</a:t>
            </a:r>
          </a:p>
          <a:p/>
          <a:p>
            <a:r>
              <a:t>Source / provenance: frontend/package.json; backend/app; docker-compose.yml; helm; terraform; .github/workflows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request path starts in the browser and reaches the FastAPI service through the frontend proxy or ingress. The API reads and writes PostgreSQL. Reporting is a separate path. A request or the Celery beat scheduler queues report generation through Redis. A worker reads the authoritative database and caches a report with a timestamp and expiry. This separation allows report workers and API replicas to scale independently. If the report cache is unavailable, the report endpoint reports that failure while the live dashboard still reads the database.</a:t>
            </a:r>
          </a:p>
          <a:p/>
          <a:p>
            <a:r>
              <a:t>Source / provenance: backend/app/main.py; backend/app/tasks.py; backend/app/reporting.py; frontend/nginx.conf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model connects suppliers, products and warehouses. A balance belongs to one product and one warehouse, with a unique constraint on that pair. Database checks require nonnegative stock and prevent the reserved count from exceeding the on hand count. Movements record receipts, issues and transfers. Reservations record customer commitments. Purchase orders contain supplier-linked lines and a controlled lifecycle. Foreign keys preserve important relationships, so deleting a catalogue record cannot silently erase the meaning of historical stock records.</a:t>
            </a:r>
          </a:p>
          <a:p/>
          <a:p>
            <a:r>
              <a:t>Source / provenance: backend/app/models.py; backend/app/catalog.py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organizes the application around operational tasks. The overview explains stock value, warehouse distribution and low stock. The catalogue connects products to suppliers and reorder thresholds. Inventory and movement screens handle receiving, issuing and transferring units. Reservation controls separate a customer promise from fulfilment. Procurement connects supplier selection to purchase order lines and receiving. Forms expose validation and recoverable error states. This slide is a source-based feature map, not a browser screenshot; the environment's browser restriction is documented in the evidence register.</a:t>
            </a:r>
          </a:p>
          <a:p/>
          <a:p>
            <a:r>
              <a:t>Source / provenance: frontend/src/App.tsx; frontend/src/styles.css; docs/evidence.md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an illustrative transfer of twenty keyboards. Delhi begins with one hundred units, ten already reserved. Bengaluru begins with forty. After the transfer, Delhi holds eighty and Bengaluru sixty. The combined total is unchanged. The API locks the relevant product, checks available stock, updates both balances and appends the movement before committing. A repeated request with the same idempotency key returns the existing movement. Reusing the key for different data produces a conflict. This protects normal client retries from duplicating stock changes.</a:t>
            </a:r>
          </a:p>
          <a:p/>
          <a:p>
            <a:r>
              <a:t>Source / provenance: backend/app/inventory.py: apply_movement, duplicate, lock_products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Reservations change what can be promised without immediately changing what is physically present. Available stock is the on hand count minus the reserved count. Releasing an active reservation returns those units to availability. Fulfilling it reduces the reserved count and creates a corresponding issue movement in the same transaction. Repeating the same completion action returns the existing final state. Attempting a different action after closure returns a conflict. These rules are more important than a screen that merely lets a user edit a stock number.</a:t>
            </a:r>
          </a:p>
          <a:p/>
          <a:p>
            <a:r>
              <a:t>Source / provenance: backend/app/inventory.py: reserve, finish_reservation; backend/app/models.py: Balance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purchase order begins as a draft containing a supplier, destination warehouse and product lines. Every line must belong to the selected supplier. Drafts can be edited before they are ordered. Receiving is allowed only after ordering, and it creates the receipt movements for all lines in one database transaction. Deterministic receipt keys prevent double counting if the same receive operation is retried. The current implementation receives whole orders. Partial deliveries, invoice matching and multi currency accounting are useful extensions rather than claimed features.</a:t>
            </a:r>
          </a:p>
          <a:p/>
          <a:p>
            <a:r>
              <a:t>Source / provenance: backend/app/orders.py; backend/app/schemas.py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reporting adds a separate Python worker stack to the application. The report endpoint queues a task, and the scheduler can request refreshes every sixty seconds. A worker reads a database snapshot and stores the result in Redis for one hundred and eighty seconds, including its generation time. This makes staleness visible and keeps the cache disposable. Redis is not the source of inventory truth. A worker or cache outage is reported explicitly. The live dashboard follows its own database-backed path. Service execution evidence is tracked separately from the implementation.</a:t>
            </a:r>
          </a:p>
          <a:p/>
          <a:p>
            <a:r>
              <a:t>Source / provenance: backend/app/tasks.py; backend/app/main.py; backend/app/reporting.py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supports scaling without placing shared stock state in an application process. PostgreSQL row locks coordinate updates across replicas. Product locks are acquired in a stable order, reducing the risk of deadlocks when an order contains several products. Idempotency keys and request fingerprints protect retries. Frontend, API and worker workloads have distinct scaling responsibilities. There is an important verification boundary: SQLite-based tests do not validate PostgreSQL row locking. Concurrent PostgreSQL tests, load tests and failure recovery exercises are still needed before claiming a measured production scale.</a:t>
            </a:r>
          </a:p>
          <a:p/>
          <a:p>
            <a:r>
              <a:t>Source / provenance: backend/app/inventory.py; backend/app/orders.py; helm/stockpilot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delivery workflow links source validation to deployment. It defines backend checks, a frontend build, source and dependency security gates, container image builds and vulnerability scanning. A temporary kind cluster provides a place to install the Helm chart and smoke test it. Promotion updates the desired image revision only after its prerequisites succeed. Commit SHA image tags connect a release to a specific source version. These are implementation details in the workflow. A successful hosted run, published image and deployment must each be demonstrated separately before they are reported as verified.</a:t>
            </a:r>
          </a:p>
          <a:p/>
          <a:p>
            <a:r>
              <a:t>Source / provenance: .github/workflows; scripts; gitops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Helm chart expresses more than how to start a container. Deployments and services connect the frontend and API. Probes separate startup, process health and database readiness. Resource requests, limits, autoscaling and disruption budgets describe operational expectations. PostgreSQL uses persistent storage, while a migration job prepares the schema before the application rollout. Runtime security settings reduce container privileges. These controls are designed in configuration. Actual rollout behaviour, storage persistence, scaling and failover need a Kubernetes environment and captured execution evidence.</a:t>
            </a:r>
          </a:p>
          <a:p/>
          <a:p>
            <a:r>
              <a:t>Source / provenance: helm/stockpilot/templates; kubernetes; backend/app/main.py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operates before release and during execution. The repository defines checks for source code, dependencies, secrets, container images and infrastructure. Runtime controls reduce privileges and make credentials and network boundaries explicit. These measures do not add user authentication by themselves. The current application has no sign in or role based permissions, so write APIs should remain private in a demo environment. A passing scan also applies to one source revision and vulnerability database. It should never be translated into a blanket claim that the platform is secure.</a:t>
            </a:r>
          </a:p>
          <a:p/>
          <a:p>
            <a:r>
              <a:t>Source / provenance: .github/workflows; security; backend/app/main.py; helm/stockpilot/templates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API exports Prometheus counters and request duration histograms, with method, route and status labels. Structured request logs include the elapsed time. The repository also contains monitoring configuration that connects metrics to dashboards and alerts. GitOps addresses a different concern: Argo CD compares the cluster with the desired Helm configuration in Git and reconciles drift. Monitoring explains what the system is doing, while GitOps manages what it should be running. Live graphs and a healthy synchronized application status require their own runtime evidence.</a:t>
            </a:r>
          </a:p>
          <a:p/>
          <a:p>
            <a:r>
              <a:t>Source / provenance: backend/app/main.py; monitoring; gitops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Terraform describes a possible AWS deployment with a virtual private cloud, public and private subnets, EKS workers and storage integration. Network access, node sizing and NAT choices should be reviewed before applying it. The user does not currently have AWS access, and this session does not claim a cloud deployment. Infrastructure definitions, a successful plan, an apply and a verified running application are different milestones. A complete cloud demonstration also includes teardown, so the presenter should capture the result and then remove resources that are no longer needed.</a:t>
            </a:r>
          </a:p>
          <a:p/>
          <a:p>
            <a:r>
              <a:t>Source / provenance: terraform; docs/operations-guide.md; docs/evidence.md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register separates implementation from execution. The application code and delivery configuration are present. The evidence guide records the exact local checks that completed, with their scope and logs. Local container deployment is blocked because the Docker socket is unavailable. Chromium startup is also denied by the current sandbox, so this recording uses explanatory slides rather than pretending to show a browser walkthrough. Hosted continuous integration, registry publication and AWS deployment are not claimed without successful execution. This boundary makes the submission reviewable and honest.</a:t>
            </a:r>
          </a:p>
          <a:p/>
          <a:p>
            <a:r>
              <a:t>Source / provenance: docs/evidence.md; docs/presentation/verification.json; demo/README.md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live presentation, start with the dashboard and catalogue. Receive stock, transfer it, reserve units, then demonstrate release and fulfilment. Create a purchase order and receive it to close the procurement loop. Next, show the checks, container deployment, persistent data, monitoring and GitOps evidence. The remaining environment-dependent captures are listed in the runbook. Chhavi Ahlawat's OpsPulse repository informed the organization of evidence and presentation material; the StockPilot domain, implementation and diagrams are original. Thank you for exploring how product rules and delivery engineering work together.</a:t>
            </a:r>
          </a:p>
          <a:p/>
          <a:p>
            <a:r>
              <a:t>Source / provenance: demo/RUNBOOK.md; docs/operations-guide.md; https://github.com/Chhavi07-arch/OpsPulse-devops-platform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SESSION 21 / ORIGINAL CAPSTONE</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Inventory, engineered for operations.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01 / 18</a:t>
            </a:r>
          </a:p>
        </p:txBody>
      </p:sp>
      <p:sp>
        <p:nvSpPr>
          <p:cNvPr id="8" name="TextBox 7"/>
          <p:cNvSpPr txBox="1"/>
          <p:nvPr/>
        </p:nvSpPr>
        <p:spPr>
          <a:xfrm>
            <a:off x="457200" y="1798320"/>
            <a:ext cx="8442960" cy="1219200"/>
          </a:xfrm>
          <a:prstGeom prst="rect">
            <a:avLst/>
          </a:prstGeom>
          <a:noFill/>
        </p:spPr>
        <p:txBody>
          <a:bodyPr wrap="none" lIns="0" rIns="0" tIns="0" bIns="0">
            <a:spAutoFit/>
          </a:bodyPr>
          <a:lstStyle/>
          <a:p>
            <a:pPr>
              <a:lnSpc>
                <a:spcPct val="130000"/>
              </a:lnSpc>
              <a:spcBef>
                <a:spcPts val="0"/>
              </a:spcBef>
              <a:spcAft>
                <a:spcPts val="0"/>
              </a:spcAft>
              <a:defRPr sz="6839" b="1">
                <a:solidFill>
                  <a:srgbClr val="76E0BD"/>
                </a:solidFill>
                <a:latin typeface="Noto Sans"/>
              </a:defRPr>
            </a:pPr>
            <a:r>
              <a:t>StockPilot</a:t>
            </a:r>
          </a:p>
        </p:txBody>
      </p:sp>
      <p:sp>
        <p:nvSpPr>
          <p:cNvPr id="9" name="TextBox 8"/>
          <p:cNvSpPr txBox="1"/>
          <p:nvPr/>
        </p:nvSpPr>
        <p:spPr>
          <a:xfrm>
            <a:off x="495299" y="3055620"/>
            <a:ext cx="7680960" cy="868680"/>
          </a:xfrm>
          <a:prstGeom prst="rect">
            <a:avLst/>
          </a:prstGeom>
          <a:noFill/>
        </p:spPr>
        <p:txBody>
          <a:bodyPr wrap="none" lIns="0" rIns="0" tIns="0" bIns="0">
            <a:spAutoFit/>
          </a:bodyPr>
          <a:lstStyle/>
          <a:p>
            <a:pPr>
              <a:lnSpc>
                <a:spcPct val="130000"/>
              </a:lnSpc>
              <a:spcBef>
                <a:spcPts val="0"/>
              </a:spcBef>
              <a:spcAft>
                <a:spcPts val="0"/>
              </a:spcAft>
              <a:defRPr sz="2340" b="0">
                <a:solidFill>
                  <a:srgbClr val="F4F2EB"/>
                </a:solidFill>
                <a:latin typeface="Noto Sans"/>
              </a:defRPr>
            </a:pPr>
            <a:r>
              <a:t>From a warehouse transaction</a:t>
            </a:r>
          </a:p>
          <a:p>
            <a:pPr>
              <a:lnSpc>
                <a:spcPct val="130000"/>
              </a:lnSpc>
              <a:spcBef>
                <a:spcPts val="0"/>
              </a:spcBef>
              <a:spcAft>
                <a:spcPts val="0"/>
              </a:spcAft>
              <a:defRPr sz="2340" b="0">
                <a:solidFill>
                  <a:srgbClr val="F4F2EB"/>
                </a:solidFill>
                <a:latin typeface="Noto Sans"/>
              </a:defRPr>
            </a:pPr>
            <a:r>
              <a:t>to a reproducible release.</a:t>
            </a:r>
          </a:p>
        </p:txBody>
      </p:sp>
      <p:sp>
        <p:nvSpPr>
          <p:cNvPr id="10" name="Rounded Rectangle 9"/>
          <p:cNvSpPr/>
          <p:nvPr/>
        </p:nvSpPr>
        <p:spPr>
          <a:xfrm>
            <a:off x="495299" y="4213860"/>
            <a:ext cx="1661160" cy="2895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 y="4267200"/>
            <a:ext cx="15087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76E0BD"/>
                </a:solidFill>
                <a:latin typeface="Noto Sans"/>
              </a:defRPr>
            </a:pPr>
            <a:r>
              <a:t>MULTI-WAREHOUSE</a:t>
            </a:r>
          </a:p>
        </p:txBody>
      </p:sp>
      <p:sp>
        <p:nvSpPr>
          <p:cNvPr id="12" name="Rounded Rectangle 11"/>
          <p:cNvSpPr/>
          <p:nvPr/>
        </p:nvSpPr>
        <p:spPr>
          <a:xfrm>
            <a:off x="2689860" y="4213860"/>
            <a:ext cx="1341120" cy="2895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11780" y="4267200"/>
            <a:ext cx="118872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76E0BD"/>
                </a:solidFill>
                <a:latin typeface="Noto Sans"/>
              </a:defRPr>
            </a:pPr>
            <a:r>
              <a:t>PROCUREMENT</a:t>
            </a:r>
          </a:p>
        </p:txBody>
      </p:sp>
      <p:sp>
        <p:nvSpPr>
          <p:cNvPr id="14" name="Rounded Rectangle 13"/>
          <p:cNvSpPr/>
          <p:nvPr/>
        </p:nvSpPr>
        <p:spPr>
          <a:xfrm>
            <a:off x="4541520" y="4213860"/>
            <a:ext cx="1059180" cy="2895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4267200"/>
            <a:ext cx="90678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76E0BD"/>
                </a:solidFill>
                <a:latin typeface="Noto Sans"/>
              </a:defRPr>
            </a:pPr>
            <a:r>
              <a:t>DEVSECOPS</a:t>
            </a:r>
          </a:p>
        </p:txBody>
      </p:sp>
      <p:sp>
        <p:nvSpPr>
          <p:cNvPr id="16" name="Rounded Rectangle 15"/>
          <p:cNvSpPr/>
          <p:nvPr/>
        </p:nvSpPr>
        <p:spPr>
          <a:xfrm>
            <a:off x="8610600" y="1874519"/>
            <a:ext cx="2743200" cy="3048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77300" y="2171700"/>
            <a:ext cx="1981199" cy="34290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77300" y="2781300"/>
            <a:ext cx="1524000" cy="342900"/>
          </a:xfrm>
          <a:prstGeom prst="roundRect">
            <a:avLst>
              <a:gd name="adj" fmla="val 6000"/>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877300" y="3390900"/>
            <a:ext cx="2171700" cy="342900"/>
          </a:xfrm>
          <a:prstGeom prst="roundRect">
            <a:avLst>
              <a:gd name="adj" fmla="val 6000"/>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77300" y="4130040"/>
            <a:ext cx="2232660" cy="487680"/>
          </a:xfrm>
          <a:prstGeom prst="rect">
            <a:avLst/>
          </a:prstGeom>
          <a:noFill/>
        </p:spPr>
        <p:txBody>
          <a:bodyPr wrap="none" lIns="0" rIns="0" tIns="0" bIns="0">
            <a:spAutoFit/>
          </a:bodyPr>
          <a:lstStyle/>
          <a:p>
            <a:pPr>
              <a:lnSpc>
                <a:spcPct val="130000"/>
              </a:lnSpc>
              <a:spcBef>
                <a:spcPts val="0"/>
              </a:spcBef>
              <a:spcAft>
                <a:spcPts val="0"/>
              </a:spcAft>
              <a:defRPr sz="1200" b="1">
                <a:solidFill>
                  <a:srgbClr val="A9BAC4"/>
                </a:solidFill>
                <a:latin typeface="Noto Sans"/>
              </a:defRPr>
            </a:pPr>
            <a:r>
              <a:t>RECEIVE → RESERVE</a:t>
            </a:r>
          </a:p>
          <a:p>
            <a:pPr>
              <a:lnSpc>
                <a:spcPct val="130000"/>
              </a:lnSpc>
              <a:spcBef>
                <a:spcPts val="0"/>
              </a:spcBef>
              <a:spcAft>
                <a:spcPts val="0"/>
              </a:spcAft>
              <a:defRPr sz="1200" b="1">
                <a:solidFill>
                  <a:srgbClr val="A9BAC4"/>
                </a:solidFill>
                <a:latin typeface="Noto Sans"/>
              </a:defRPr>
            </a:pPr>
            <a:r>
              <a:t>TRANSFER → REPLENISH</a:t>
            </a:r>
          </a:p>
        </p:txBody>
      </p:sp>
      <p:sp>
        <p:nvSpPr>
          <p:cNvPr id="21" name="TextBox 20"/>
          <p:cNvSpPr txBox="1"/>
          <p:nvPr/>
        </p:nvSpPr>
        <p:spPr>
          <a:xfrm>
            <a:off x="495299" y="5097780"/>
            <a:ext cx="108813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Vimal Kumar Yadav · 24BCS10273</a:t>
            </a:r>
          </a:p>
        </p:txBody>
      </p:sp>
      <p:sp>
        <p:nvSpPr>
          <p:cNvPr id="22" name="TextBox 21"/>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Original explanatory diagrams · synthetic English narration · deployment evidence stated explicitly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THE PRODUCT PROBLEM</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One stock count. Many competing decisions.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02 / 18</a:t>
            </a:r>
          </a:p>
        </p:txBody>
      </p:sp>
      <p:sp>
        <p:nvSpPr>
          <p:cNvPr id="8" name="Rounded Rectangle 7"/>
          <p:cNvSpPr/>
          <p:nvPr/>
        </p:nvSpPr>
        <p:spPr>
          <a:xfrm>
            <a:off x="457200" y="1943100"/>
            <a:ext cx="3581400" cy="27432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27432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01 / AVAILABILITY</a:t>
            </a:r>
          </a:p>
        </p:txBody>
      </p:sp>
      <p:sp>
        <p:nvSpPr>
          <p:cNvPr id="11" name="TextBox 10"/>
          <p:cNvSpPr txBox="1"/>
          <p:nvPr/>
        </p:nvSpPr>
        <p:spPr>
          <a:xfrm>
            <a:off x="6477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Sell without overselling</a:t>
            </a:r>
          </a:p>
        </p:txBody>
      </p:sp>
      <p:sp>
        <p:nvSpPr>
          <p:cNvPr id="12" name="TextBox 11"/>
          <p:cNvSpPr txBox="1"/>
          <p:nvPr/>
        </p:nvSpPr>
        <p:spPr>
          <a:xfrm>
            <a:off x="647700" y="2880360"/>
            <a:ext cx="32613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Available stock must exclude</a:t>
            </a:r>
          </a:p>
          <a:p>
            <a:pPr>
              <a:lnSpc>
                <a:spcPct val="130000"/>
              </a:lnSpc>
              <a:spcBef>
                <a:spcPts val="0"/>
              </a:spcBef>
              <a:spcAft>
                <a:spcPts val="0"/>
              </a:spcAft>
              <a:defRPr sz="1439" b="0">
                <a:solidFill>
                  <a:srgbClr val="A9BAC4"/>
                </a:solidFill>
                <a:latin typeface="Noto Sans"/>
              </a:defRPr>
            </a:pPr>
            <a:r>
              <a:t>reservations. A customer promise</a:t>
            </a:r>
          </a:p>
          <a:p>
            <a:pPr>
              <a:lnSpc>
                <a:spcPct val="130000"/>
              </a:lnSpc>
              <a:spcBef>
                <a:spcPts val="0"/>
              </a:spcBef>
              <a:spcAft>
                <a:spcPts val="0"/>
              </a:spcAft>
              <a:defRPr sz="1439" b="0">
                <a:solidFill>
                  <a:srgbClr val="A9BAC4"/>
                </a:solidFill>
                <a:latin typeface="Noto Sans"/>
              </a:defRPr>
            </a:pPr>
            <a:r>
              <a:t>cannot be consumed by a warehouse</a:t>
            </a:r>
          </a:p>
          <a:p>
            <a:pPr>
              <a:lnSpc>
                <a:spcPct val="130000"/>
              </a:lnSpc>
              <a:spcBef>
                <a:spcPts val="0"/>
              </a:spcBef>
              <a:spcAft>
                <a:spcPts val="0"/>
              </a:spcAft>
              <a:defRPr sz="1439" b="0">
                <a:solidFill>
                  <a:srgbClr val="A9BAC4"/>
                </a:solidFill>
                <a:latin typeface="Noto Sans"/>
              </a:defRPr>
            </a:pPr>
            <a:r>
              <a:t>transfer.</a:t>
            </a:r>
          </a:p>
        </p:txBody>
      </p:sp>
      <p:sp>
        <p:nvSpPr>
          <p:cNvPr id="13" name="Rounded Rectangle 12"/>
          <p:cNvSpPr/>
          <p:nvPr/>
        </p:nvSpPr>
        <p:spPr>
          <a:xfrm>
            <a:off x="4305300" y="1943100"/>
            <a:ext cx="3581400" cy="27432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5300" y="1943100"/>
            <a:ext cx="38100" cy="27432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91BDF0"/>
                </a:solidFill>
                <a:latin typeface="Noto Sans"/>
              </a:defRPr>
            </a:pPr>
            <a:r>
              <a:t>02 / CONSISTENCY</a:t>
            </a:r>
          </a:p>
        </p:txBody>
      </p:sp>
      <p:sp>
        <p:nvSpPr>
          <p:cNvPr id="16" name="TextBox 15"/>
          <p:cNvSpPr txBox="1"/>
          <p:nvPr/>
        </p:nvSpPr>
        <p:spPr>
          <a:xfrm>
            <a:off x="44958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Move without losing stock</a:t>
            </a:r>
          </a:p>
        </p:txBody>
      </p:sp>
      <p:sp>
        <p:nvSpPr>
          <p:cNvPr id="17" name="TextBox 16"/>
          <p:cNvSpPr txBox="1"/>
          <p:nvPr/>
        </p:nvSpPr>
        <p:spPr>
          <a:xfrm>
            <a:off x="4495800" y="2880360"/>
            <a:ext cx="32613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A transfer changes both warehouses</a:t>
            </a:r>
          </a:p>
          <a:p>
            <a:pPr>
              <a:lnSpc>
                <a:spcPct val="130000"/>
              </a:lnSpc>
              <a:spcBef>
                <a:spcPts val="0"/>
              </a:spcBef>
              <a:spcAft>
                <a:spcPts val="0"/>
              </a:spcAft>
              <a:defRPr sz="1439" b="0">
                <a:solidFill>
                  <a:srgbClr val="A9BAC4"/>
                </a:solidFill>
                <a:latin typeface="Noto Sans"/>
              </a:defRPr>
            </a:pPr>
            <a:r>
              <a:t>in one transaction. Retries must not</a:t>
            </a:r>
          </a:p>
          <a:p>
            <a:pPr>
              <a:lnSpc>
                <a:spcPct val="130000"/>
              </a:lnSpc>
              <a:spcBef>
                <a:spcPts val="0"/>
              </a:spcBef>
              <a:spcAft>
                <a:spcPts val="0"/>
              </a:spcAft>
              <a:defRPr sz="1439" b="0">
                <a:solidFill>
                  <a:srgbClr val="A9BAC4"/>
                </a:solidFill>
                <a:latin typeface="Noto Sans"/>
              </a:defRPr>
            </a:pPr>
            <a:r>
              <a:t>duplicate the movement.</a:t>
            </a:r>
          </a:p>
        </p:txBody>
      </p:sp>
      <p:sp>
        <p:nvSpPr>
          <p:cNvPr id="18" name="Rounded Rectangle 17"/>
          <p:cNvSpPr/>
          <p:nvPr/>
        </p:nvSpPr>
        <p:spPr>
          <a:xfrm>
            <a:off x="8153399" y="1943100"/>
            <a:ext cx="3581400" cy="27432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399" y="1943100"/>
            <a:ext cx="38100" cy="27432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FFAE79"/>
                </a:solidFill>
                <a:latin typeface="Noto Sans"/>
              </a:defRPr>
            </a:pPr>
            <a:r>
              <a:t>03 / PROCUREMENT</a:t>
            </a:r>
          </a:p>
        </p:txBody>
      </p:sp>
      <p:sp>
        <p:nvSpPr>
          <p:cNvPr id="21" name="TextBox 20"/>
          <p:cNvSpPr txBox="1"/>
          <p:nvPr/>
        </p:nvSpPr>
        <p:spPr>
          <a:xfrm>
            <a:off x="83439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Replenish with context</a:t>
            </a:r>
          </a:p>
        </p:txBody>
      </p:sp>
      <p:sp>
        <p:nvSpPr>
          <p:cNvPr id="22" name="TextBox 21"/>
          <p:cNvSpPr txBox="1"/>
          <p:nvPr/>
        </p:nvSpPr>
        <p:spPr>
          <a:xfrm>
            <a:off x="8343900" y="2880360"/>
            <a:ext cx="32613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Low-stock signals connect the</a:t>
            </a:r>
          </a:p>
          <a:p>
            <a:pPr>
              <a:lnSpc>
                <a:spcPct val="130000"/>
              </a:lnSpc>
              <a:spcBef>
                <a:spcPts val="0"/>
              </a:spcBef>
              <a:spcAft>
                <a:spcPts val="0"/>
              </a:spcAft>
              <a:defRPr sz="1439" b="0">
                <a:solidFill>
                  <a:srgbClr val="A9BAC4"/>
                </a:solidFill>
                <a:latin typeface="Noto Sans"/>
              </a:defRPr>
            </a:pPr>
            <a:r>
              <a:t>catalogue, supplier, purchase order</a:t>
            </a:r>
          </a:p>
          <a:p>
            <a:pPr>
              <a:lnSpc>
                <a:spcPct val="130000"/>
              </a:lnSpc>
              <a:spcBef>
                <a:spcPts val="0"/>
              </a:spcBef>
              <a:spcAft>
                <a:spcPts val="0"/>
              </a:spcAft>
              <a:defRPr sz="1439" b="0">
                <a:solidFill>
                  <a:srgbClr val="A9BAC4"/>
                </a:solidFill>
                <a:latin typeface="Noto Sans"/>
              </a:defRPr>
            </a:pPr>
            <a:r>
              <a:t>and receiving workflow.</a:t>
            </a:r>
          </a:p>
        </p:txBody>
      </p:sp>
      <p:sp>
        <p:nvSpPr>
          <p:cNvPr id="23" name="TextBox 22"/>
          <p:cNvSpPr txBox="1"/>
          <p:nvPr/>
        </p:nvSpPr>
        <p:spPr>
          <a:xfrm>
            <a:off x="495299" y="5044440"/>
            <a:ext cx="11109960" cy="411480"/>
          </a:xfrm>
          <a:prstGeom prst="rect">
            <a:avLst/>
          </a:prstGeom>
          <a:noFill/>
        </p:spPr>
        <p:txBody>
          <a:bodyPr wrap="none" lIns="0" rIns="0" tIns="0" bIns="0">
            <a:spAutoFit/>
          </a:bodyPr>
          <a:lstStyle/>
          <a:p>
            <a:pPr>
              <a:lnSpc>
                <a:spcPct val="130000"/>
              </a:lnSpc>
              <a:spcBef>
                <a:spcPts val="0"/>
              </a:spcBef>
              <a:spcAft>
                <a:spcPts val="0"/>
              </a:spcAft>
              <a:defRPr sz="1920" b="1">
                <a:solidFill>
                  <a:srgbClr val="76E0BD"/>
                </a:solidFill>
                <a:latin typeface="Noto Sans"/>
              </a:defRPr>
            </a:pPr>
            <a:r>
              <a:t>The complexity is in the rules, not just the number of services.</a:t>
            </a:r>
          </a:p>
        </p:txBody>
      </p:sp>
      <p:sp>
        <p:nvSpPr>
          <p:cNvPr id="24" name="TextBox 23"/>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Example business workflows; capacity and production scale have not been benchmarked.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TECHNOLOGY CHOICES</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A different stack for each responsibility.</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03 / 18</a:t>
            </a:r>
          </a:p>
        </p:txBody>
      </p:sp>
      <p:sp>
        <p:nvSpPr>
          <p:cNvPr id="8" name="Rounded Rectangle 7"/>
          <p:cNvSpPr/>
          <p:nvPr/>
        </p:nvSpPr>
        <p:spPr>
          <a:xfrm>
            <a:off x="457200" y="1790700"/>
            <a:ext cx="11277600" cy="6705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700" y="2004060"/>
            <a:ext cx="18516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76E0BD"/>
                </a:solidFill>
                <a:latin typeface="Noto Sans"/>
              </a:defRPr>
            </a:pPr>
            <a:r>
              <a:t>EXPERIENCE</a:t>
            </a:r>
          </a:p>
        </p:txBody>
      </p:sp>
      <p:sp>
        <p:nvSpPr>
          <p:cNvPr id="10" name="TextBox 9"/>
          <p:cNvSpPr txBox="1"/>
          <p:nvPr/>
        </p:nvSpPr>
        <p:spPr>
          <a:xfrm>
            <a:off x="2567940" y="1912620"/>
            <a:ext cx="8823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React · TypeScript · Vite</a:t>
            </a:r>
          </a:p>
        </p:txBody>
      </p:sp>
      <p:sp>
        <p:nvSpPr>
          <p:cNvPr id="11" name="TextBox 10"/>
          <p:cNvSpPr txBox="1"/>
          <p:nvPr/>
        </p:nvSpPr>
        <p:spPr>
          <a:xfrm>
            <a:off x="2567940" y="2186940"/>
            <a:ext cx="86715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Typed forms and a responsive operational workspace</a:t>
            </a:r>
          </a:p>
        </p:txBody>
      </p:sp>
      <p:sp>
        <p:nvSpPr>
          <p:cNvPr id="12" name="Rounded Rectangle 11"/>
          <p:cNvSpPr/>
          <p:nvPr/>
        </p:nvSpPr>
        <p:spPr>
          <a:xfrm>
            <a:off x="457200" y="2567940"/>
            <a:ext cx="11277600" cy="6705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 y="2781300"/>
            <a:ext cx="18516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91BDF0"/>
                </a:solidFill>
                <a:latin typeface="Noto Sans"/>
              </a:defRPr>
            </a:pPr>
            <a:r>
              <a:t>TRANSACTIONS</a:t>
            </a:r>
          </a:p>
        </p:txBody>
      </p:sp>
      <p:sp>
        <p:nvSpPr>
          <p:cNvPr id="14" name="TextBox 13"/>
          <p:cNvSpPr txBox="1"/>
          <p:nvPr/>
        </p:nvSpPr>
        <p:spPr>
          <a:xfrm>
            <a:off x="2567940" y="2689860"/>
            <a:ext cx="8823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FastAPI · SQLAlchemy · Alembic</a:t>
            </a:r>
          </a:p>
        </p:txBody>
      </p:sp>
      <p:sp>
        <p:nvSpPr>
          <p:cNvPr id="15" name="TextBox 14"/>
          <p:cNvSpPr txBox="1"/>
          <p:nvPr/>
        </p:nvSpPr>
        <p:spPr>
          <a:xfrm>
            <a:off x="2567940" y="2964180"/>
            <a:ext cx="86715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Validated requests, business rules and schema migrations</a:t>
            </a:r>
          </a:p>
        </p:txBody>
      </p:sp>
      <p:sp>
        <p:nvSpPr>
          <p:cNvPr id="16" name="Rounded Rectangle 15"/>
          <p:cNvSpPr/>
          <p:nvPr/>
        </p:nvSpPr>
        <p:spPr>
          <a:xfrm>
            <a:off x="457200" y="3345180"/>
            <a:ext cx="11277600" cy="6705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700" y="3558540"/>
            <a:ext cx="18516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FFAE79"/>
                </a:solidFill>
                <a:latin typeface="Noto Sans"/>
              </a:defRPr>
            </a:pPr>
            <a:r>
              <a:t>DATA + ASYNC</a:t>
            </a:r>
          </a:p>
        </p:txBody>
      </p:sp>
      <p:sp>
        <p:nvSpPr>
          <p:cNvPr id="18" name="TextBox 17"/>
          <p:cNvSpPr txBox="1"/>
          <p:nvPr/>
        </p:nvSpPr>
        <p:spPr>
          <a:xfrm>
            <a:off x="2567940" y="3467100"/>
            <a:ext cx="8823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PostgreSQL · Redis · Celery</a:t>
            </a:r>
          </a:p>
        </p:txBody>
      </p:sp>
      <p:sp>
        <p:nvSpPr>
          <p:cNvPr id="19" name="TextBox 18"/>
          <p:cNvSpPr txBox="1"/>
          <p:nvPr/>
        </p:nvSpPr>
        <p:spPr>
          <a:xfrm>
            <a:off x="2567940" y="3741420"/>
            <a:ext cx="86715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Durable stock ledger and separately scheduled reports</a:t>
            </a:r>
          </a:p>
        </p:txBody>
      </p:sp>
      <p:sp>
        <p:nvSpPr>
          <p:cNvPr id="20" name="Rounded Rectangle 19"/>
          <p:cNvSpPr/>
          <p:nvPr/>
        </p:nvSpPr>
        <p:spPr>
          <a:xfrm>
            <a:off x="457200" y="4122420"/>
            <a:ext cx="11277600" cy="6705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 y="4335780"/>
            <a:ext cx="18516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76E0BD"/>
                </a:solidFill>
                <a:latin typeface="Noto Sans"/>
              </a:defRPr>
            </a:pPr>
            <a:r>
              <a:t>PLATFORM</a:t>
            </a:r>
          </a:p>
        </p:txBody>
      </p:sp>
      <p:sp>
        <p:nvSpPr>
          <p:cNvPr id="22" name="TextBox 21"/>
          <p:cNvSpPr txBox="1"/>
          <p:nvPr/>
        </p:nvSpPr>
        <p:spPr>
          <a:xfrm>
            <a:off x="2567940" y="4244340"/>
            <a:ext cx="8823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Docker · Kubernetes · Helm</a:t>
            </a:r>
          </a:p>
        </p:txBody>
      </p:sp>
      <p:sp>
        <p:nvSpPr>
          <p:cNvPr id="23" name="TextBox 22"/>
          <p:cNvSpPr txBox="1"/>
          <p:nvPr/>
        </p:nvSpPr>
        <p:spPr>
          <a:xfrm>
            <a:off x="2567940" y="4518660"/>
            <a:ext cx="86715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Repeatable packaging, health checks and scaling controls</a:t>
            </a:r>
          </a:p>
        </p:txBody>
      </p:sp>
      <p:sp>
        <p:nvSpPr>
          <p:cNvPr id="24" name="Rounded Rectangle 23"/>
          <p:cNvSpPr/>
          <p:nvPr/>
        </p:nvSpPr>
        <p:spPr>
          <a:xfrm>
            <a:off x="457200" y="4899660"/>
            <a:ext cx="11277600" cy="6705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700" y="5113020"/>
            <a:ext cx="185166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91BDF0"/>
                </a:solidFill>
                <a:latin typeface="Noto Sans"/>
              </a:defRPr>
            </a:pPr>
            <a:r>
              <a:t>DELIVERY</a:t>
            </a:r>
          </a:p>
        </p:txBody>
      </p:sp>
      <p:sp>
        <p:nvSpPr>
          <p:cNvPr id="26" name="TextBox 25"/>
          <p:cNvSpPr txBox="1"/>
          <p:nvPr/>
        </p:nvSpPr>
        <p:spPr>
          <a:xfrm>
            <a:off x="2567940" y="5021580"/>
            <a:ext cx="8823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GitHub Actions · Argo CD · Terraform</a:t>
            </a:r>
          </a:p>
        </p:txBody>
      </p:sp>
      <p:sp>
        <p:nvSpPr>
          <p:cNvPr id="27" name="TextBox 26"/>
          <p:cNvSpPr txBox="1"/>
          <p:nvPr/>
        </p:nvSpPr>
        <p:spPr>
          <a:xfrm>
            <a:off x="2567940" y="5295900"/>
            <a:ext cx="86715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Release gates, reconciliation and infrastructure definitions</a:t>
            </a:r>
          </a:p>
        </p:txBody>
      </p:sp>
      <p:sp>
        <p:nvSpPr>
          <p:cNvPr id="28" name="TextBox 27"/>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Stack selection follows the instructor's Python/full-stack path; this is separate from the Java Typeahead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APPLICATION ARCHITECTURE</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Two paths: serve requests and refresh reports.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04 / 18</a:t>
            </a:r>
          </a:p>
        </p:txBody>
      </p:sp>
      <p:sp>
        <p:nvSpPr>
          <p:cNvPr id="8" name="Rounded Rectangle 7"/>
          <p:cNvSpPr/>
          <p:nvPr/>
        </p:nvSpPr>
        <p:spPr>
          <a:xfrm>
            <a:off x="457200" y="2095499"/>
            <a:ext cx="2133600" cy="1066800"/>
          </a:xfrm>
          <a:prstGeom prst="roundRect">
            <a:avLst>
              <a:gd name="adj" fmla="val 6000"/>
            </a:avLst>
          </a:prstGeom>
          <a:solidFill>
            <a:srgbClr val="192630"/>
          </a:solidFill>
          <a:ln>
            <a:solidFill>
              <a:srgbClr val="76E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9600" y="2278380"/>
            <a:ext cx="18897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76E0BD"/>
                </a:solidFill>
                <a:latin typeface="Noto Sans"/>
              </a:defRPr>
            </a:pPr>
            <a:r>
              <a:t>BROWSER</a:t>
            </a:r>
          </a:p>
        </p:txBody>
      </p:sp>
      <p:sp>
        <p:nvSpPr>
          <p:cNvPr id="10" name="TextBox 9"/>
          <p:cNvSpPr txBox="1"/>
          <p:nvPr/>
        </p:nvSpPr>
        <p:spPr>
          <a:xfrm>
            <a:off x="609600" y="2590800"/>
            <a:ext cx="18897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React + TypeScript</a:t>
            </a:r>
          </a:p>
        </p:txBody>
      </p:sp>
      <p:sp>
        <p:nvSpPr>
          <p:cNvPr id="11" name="Rounded Rectangle 10"/>
          <p:cNvSpPr/>
          <p:nvPr/>
        </p:nvSpPr>
        <p:spPr>
          <a:xfrm>
            <a:off x="3352800" y="2095499"/>
            <a:ext cx="2362200" cy="1066800"/>
          </a:xfrm>
          <a:prstGeom prst="roundRect">
            <a:avLst>
              <a:gd name="adj" fmla="val 6000"/>
            </a:avLst>
          </a:prstGeom>
          <a:solidFill>
            <a:srgbClr val="192630"/>
          </a:solidFill>
          <a:ln>
            <a:solidFill>
              <a:srgbClr val="91BD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5200" y="2278380"/>
            <a:ext cx="21183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91BDF0"/>
                </a:solidFill>
                <a:latin typeface="Noto Sans"/>
              </a:defRPr>
            </a:pPr>
            <a:r>
              <a:t>API REPLICAS</a:t>
            </a:r>
          </a:p>
        </p:txBody>
      </p:sp>
      <p:sp>
        <p:nvSpPr>
          <p:cNvPr id="13" name="TextBox 12"/>
          <p:cNvSpPr txBox="1"/>
          <p:nvPr/>
        </p:nvSpPr>
        <p:spPr>
          <a:xfrm>
            <a:off x="3505200" y="2590800"/>
            <a:ext cx="2118360" cy="57912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FastAPI /</a:t>
            </a:r>
          </a:p>
          <a:p>
            <a:pPr>
              <a:lnSpc>
                <a:spcPct val="130000"/>
              </a:lnSpc>
              <a:spcBef>
                <a:spcPts val="0"/>
              </a:spcBef>
              <a:spcAft>
                <a:spcPts val="0"/>
              </a:spcAft>
              <a:defRPr sz="1500" b="1">
                <a:solidFill>
                  <a:srgbClr val="F4F2EB"/>
                </a:solidFill>
                <a:latin typeface="Noto Sans"/>
              </a:defRPr>
            </a:pPr>
            <a:r>
              <a:t>SQLAlchemy</a:t>
            </a:r>
          </a:p>
        </p:txBody>
      </p:sp>
      <p:sp>
        <p:nvSpPr>
          <p:cNvPr id="14" name="Rounded Rectangle 13"/>
          <p:cNvSpPr/>
          <p:nvPr/>
        </p:nvSpPr>
        <p:spPr>
          <a:xfrm>
            <a:off x="6477000" y="2095499"/>
            <a:ext cx="2286000" cy="1066800"/>
          </a:xfrm>
          <a:prstGeom prst="roundRect">
            <a:avLst>
              <a:gd name="adj" fmla="val 6000"/>
            </a:avLst>
          </a:prstGeom>
          <a:solidFill>
            <a:srgbClr val="192630"/>
          </a:solidFill>
          <a:ln>
            <a:solidFill>
              <a:srgbClr val="FFA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2278380"/>
            <a:ext cx="20421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FFAE79"/>
                </a:solidFill>
                <a:latin typeface="Noto Sans"/>
              </a:defRPr>
            </a:pPr>
            <a:r>
              <a:t>SOURCE OF TRUTH</a:t>
            </a:r>
          </a:p>
        </p:txBody>
      </p:sp>
      <p:sp>
        <p:nvSpPr>
          <p:cNvPr id="16" name="TextBox 15"/>
          <p:cNvSpPr txBox="1"/>
          <p:nvPr/>
        </p:nvSpPr>
        <p:spPr>
          <a:xfrm>
            <a:off x="6629400" y="2590800"/>
            <a:ext cx="20421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PostgreSQL</a:t>
            </a:r>
          </a:p>
        </p:txBody>
      </p:sp>
      <p:sp>
        <p:nvSpPr>
          <p:cNvPr id="17" name="Rounded Rectangle 16"/>
          <p:cNvSpPr/>
          <p:nvPr/>
        </p:nvSpPr>
        <p:spPr>
          <a:xfrm>
            <a:off x="6477000" y="4305300"/>
            <a:ext cx="2286000" cy="1066800"/>
          </a:xfrm>
          <a:prstGeom prst="roundRect">
            <a:avLst>
              <a:gd name="adj" fmla="val 6000"/>
            </a:avLst>
          </a:prstGeom>
          <a:solidFill>
            <a:srgbClr val="192630"/>
          </a:solidFill>
          <a:ln>
            <a:solidFill>
              <a:srgbClr val="76E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488180"/>
            <a:ext cx="20421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76E0BD"/>
                </a:solidFill>
                <a:latin typeface="Noto Sans"/>
              </a:defRPr>
            </a:pPr>
            <a:r>
              <a:t>TASK BROKER</a:t>
            </a:r>
          </a:p>
        </p:txBody>
      </p:sp>
      <p:sp>
        <p:nvSpPr>
          <p:cNvPr id="19" name="TextBox 18"/>
          <p:cNvSpPr txBox="1"/>
          <p:nvPr/>
        </p:nvSpPr>
        <p:spPr>
          <a:xfrm>
            <a:off x="6629400" y="4800600"/>
            <a:ext cx="20421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Redis</a:t>
            </a:r>
          </a:p>
        </p:txBody>
      </p:sp>
      <p:sp>
        <p:nvSpPr>
          <p:cNvPr id="20" name="Rounded Rectangle 19"/>
          <p:cNvSpPr/>
          <p:nvPr/>
        </p:nvSpPr>
        <p:spPr>
          <a:xfrm>
            <a:off x="3352800" y="4305300"/>
            <a:ext cx="2362200" cy="1066800"/>
          </a:xfrm>
          <a:prstGeom prst="roundRect">
            <a:avLst>
              <a:gd name="adj" fmla="val 6000"/>
            </a:avLst>
          </a:prstGeom>
          <a:solidFill>
            <a:srgbClr val="192630"/>
          </a:solidFill>
          <a:ln>
            <a:solidFill>
              <a:srgbClr val="91BD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05200" y="4488180"/>
            <a:ext cx="21183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91BDF0"/>
                </a:solidFill>
                <a:latin typeface="Noto Sans"/>
              </a:defRPr>
            </a:pPr>
            <a:r>
              <a:t>BACKGROUND</a:t>
            </a:r>
          </a:p>
        </p:txBody>
      </p:sp>
      <p:sp>
        <p:nvSpPr>
          <p:cNvPr id="22" name="TextBox 21"/>
          <p:cNvSpPr txBox="1"/>
          <p:nvPr/>
        </p:nvSpPr>
        <p:spPr>
          <a:xfrm>
            <a:off x="3505200" y="4800600"/>
            <a:ext cx="21183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Celery worker</a:t>
            </a:r>
          </a:p>
        </p:txBody>
      </p:sp>
      <p:sp>
        <p:nvSpPr>
          <p:cNvPr id="23" name="Rounded Rectangle 22"/>
          <p:cNvSpPr/>
          <p:nvPr/>
        </p:nvSpPr>
        <p:spPr>
          <a:xfrm>
            <a:off x="9372600" y="4305300"/>
            <a:ext cx="2362200" cy="1066800"/>
          </a:xfrm>
          <a:prstGeom prst="roundRect">
            <a:avLst>
              <a:gd name="adj" fmla="val 6000"/>
            </a:avLst>
          </a:prstGeom>
          <a:solidFill>
            <a:srgbClr val="192630"/>
          </a:solidFill>
          <a:ln>
            <a:solidFill>
              <a:srgbClr val="FFA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25000" y="4488180"/>
            <a:ext cx="2118360" cy="266700"/>
          </a:xfrm>
          <a:prstGeom prst="rect">
            <a:avLst/>
          </a:prstGeom>
          <a:noFill/>
        </p:spPr>
        <p:txBody>
          <a:bodyPr wrap="none" lIns="0" rIns="0" tIns="0" bIns="0">
            <a:spAutoFit/>
          </a:bodyPr>
          <a:lstStyle/>
          <a:p>
            <a:pPr>
              <a:lnSpc>
                <a:spcPct val="130000"/>
              </a:lnSpc>
              <a:spcBef>
                <a:spcPts val="0"/>
              </a:spcBef>
              <a:spcAft>
                <a:spcPts val="0"/>
              </a:spcAft>
              <a:defRPr sz="1080" b="1">
                <a:solidFill>
                  <a:srgbClr val="FFAE79"/>
                </a:solidFill>
                <a:latin typeface="Noto Sans"/>
              </a:defRPr>
            </a:pPr>
            <a:r>
              <a:t>SCHEDULE</a:t>
            </a:r>
          </a:p>
        </p:txBody>
      </p:sp>
      <p:sp>
        <p:nvSpPr>
          <p:cNvPr id="25" name="TextBox 24"/>
          <p:cNvSpPr txBox="1"/>
          <p:nvPr/>
        </p:nvSpPr>
        <p:spPr>
          <a:xfrm>
            <a:off x="9525000" y="4800600"/>
            <a:ext cx="21183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F4F2EB"/>
                </a:solidFill>
                <a:latin typeface="Noto Sans"/>
              </a:defRPr>
            </a:pPr>
            <a:r>
              <a:t>Celery beat</a:t>
            </a:r>
          </a:p>
        </p:txBody>
      </p:sp>
      <p:cxnSp>
        <p:nvCxnSpPr>
          <p:cNvPr id="26" name="Connector 25"/>
          <p:cNvCxnSpPr/>
          <p:nvPr/>
        </p:nvCxnSpPr>
        <p:spPr>
          <a:xfrm>
            <a:off x="2590800" y="2628900"/>
            <a:ext cx="685800" cy="0"/>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172660" y="2628900"/>
            <a:ext cx="103940" cy="63726"/>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3172660" y="2565173"/>
            <a:ext cx="103940" cy="63727"/>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15000" y="2628900"/>
            <a:ext cx="685800" cy="0"/>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296860" y="2628900"/>
            <a:ext cx="103940" cy="63726"/>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6296860" y="2565173"/>
            <a:ext cx="103940" cy="63727"/>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15000" y="4762500"/>
            <a:ext cx="685800" cy="0"/>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296860" y="4762500"/>
            <a:ext cx="103940" cy="63726"/>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6296860" y="4698773"/>
            <a:ext cx="103940" cy="63727"/>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5791200" y="4762500"/>
            <a:ext cx="609600" cy="0"/>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791200" y="4698773"/>
            <a:ext cx="103939" cy="63727"/>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91200" y="4762500"/>
            <a:ext cx="103939" cy="63726"/>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8839200" y="4762500"/>
            <a:ext cx="533400" cy="0"/>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839200" y="4698773"/>
            <a:ext cx="103939" cy="63727"/>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839200" y="4762500"/>
            <a:ext cx="103939" cy="63726"/>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15000" y="2971800"/>
            <a:ext cx="1524000" cy="1257300"/>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7118269" y="4212111"/>
            <a:ext cx="120731" cy="16989"/>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7199377" y="4113797"/>
            <a:ext cx="39623" cy="115303"/>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067300" y="3238500"/>
            <a:ext cx="1790700" cy="1066800"/>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6801320" y="3238500"/>
            <a:ext cx="56680" cy="107944"/>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6736089" y="3236949"/>
            <a:ext cx="121911" cy="1551"/>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7200" y="3779520"/>
            <a:ext cx="26517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LIVE DASHBOARD</a:t>
            </a:r>
          </a:p>
        </p:txBody>
      </p:sp>
      <p:sp>
        <p:nvSpPr>
          <p:cNvPr id="48" name="TextBox 47"/>
          <p:cNvSpPr txBox="1"/>
          <p:nvPr/>
        </p:nvSpPr>
        <p:spPr>
          <a:xfrm>
            <a:off x="457200" y="4061460"/>
            <a:ext cx="25755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Reads current database</a:t>
            </a:r>
          </a:p>
          <a:p>
            <a:pPr>
              <a:lnSpc>
                <a:spcPct val="130000"/>
              </a:lnSpc>
              <a:spcBef>
                <a:spcPts val="0"/>
              </a:spcBef>
              <a:spcAft>
                <a:spcPts val="0"/>
              </a:spcAft>
              <a:defRPr sz="1439" b="0">
                <a:solidFill>
                  <a:srgbClr val="A9BAC4"/>
                </a:solidFill>
                <a:latin typeface="Noto Sans"/>
              </a:defRPr>
            </a:pPr>
            <a:r>
              <a:t>state on demand.</a:t>
            </a:r>
          </a:p>
        </p:txBody>
      </p:sp>
      <p:sp>
        <p:nvSpPr>
          <p:cNvPr id="49" name="TextBox 48"/>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Redis failure affects background reports; database-backed inventory endpoints remain a separate path.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DATA MODEL</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Model the relationships before the screens.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05 / 18</a:t>
            </a:r>
          </a:p>
        </p:txBody>
      </p:sp>
      <p:sp>
        <p:nvSpPr>
          <p:cNvPr id="8" name="Rounded Rectangle 7"/>
          <p:cNvSpPr/>
          <p:nvPr/>
        </p:nvSpPr>
        <p:spPr>
          <a:xfrm>
            <a:off x="457200" y="1943100"/>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11049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Supplier</a:t>
            </a:r>
          </a:p>
        </p:txBody>
      </p:sp>
      <p:sp>
        <p:nvSpPr>
          <p:cNvPr id="11" name="TextBox 10"/>
          <p:cNvSpPr txBox="1"/>
          <p:nvPr/>
        </p:nvSpPr>
        <p:spPr>
          <a:xfrm>
            <a:off x="647700" y="2560320"/>
            <a:ext cx="20421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lead time · contact</a:t>
            </a:r>
          </a:p>
        </p:txBody>
      </p:sp>
      <p:sp>
        <p:nvSpPr>
          <p:cNvPr id="12" name="Rounded Rectangle 11"/>
          <p:cNvSpPr/>
          <p:nvPr/>
        </p:nvSpPr>
        <p:spPr>
          <a:xfrm>
            <a:off x="3581400" y="1943100"/>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81400" y="1943100"/>
            <a:ext cx="38100" cy="11049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1900" y="21412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Product</a:t>
            </a:r>
          </a:p>
        </p:txBody>
      </p:sp>
      <p:sp>
        <p:nvSpPr>
          <p:cNvPr id="15" name="TextBox 14"/>
          <p:cNvSpPr txBox="1"/>
          <p:nvPr/>
        </p:nvSpPr>
        <p:spPr>
          <a:xfrm>
            <a:off x="3771900" y="2560320"/>
            <a:ext cx="20421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SKU · price · threshold</a:t>
            </a:r>
          </a:p>
        </p:txBody>
      </p:sp>
      <p:sp>
        <p:nvSpPr>
          <p:cNvPr id="16" name="Rounded Rectangle 15"/>
          <p:cNvSpPr/>
          <p:nvPr/>
        </p:nvSpPr>
        <p:spPr>
          <a:xfrm>
            <a:off x="6705600" y="1943100"/>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05600" y="1943100"/>
            <a:ext cx="38100" cy="11049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96100" y="21412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Warehouse</a:t>
            </a:r>
          </a:p>
        </p:txBody>
      </p:sp>
      <p:sp>
        <p:nvSpPr>
          <p:cNvPr id="19" name="TextBox 18"/>
          <p:cNvSpPr txBox="1"/>
          <p:nvPr/>
        </p:nvSpPr>
        <p:spPr>
          <a:xfrm>
            <a:off x="6896100" y="2560320"/>
            <a:ext cx="20421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code · location</a:t>
            </a:r>
          </a:p>
        </p:txBody>
      </p:sp>
      <p:sp>
        <p:nvSpPr>
          <p:cNvPr id="20" name="Rounded Rectangle 19"/>
          <p:cNvSpPr/>
          <p:nvPr/>
        </p:nvSpPr>
        <p:spPr>
          <a:xfrm>
            <a:off x="3581400" y="3962399"/>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81400" y="3962399"/>
            <a:ext cx="38100" cy="11049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1900" y="41605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Balance</a:t>
            </a:r>
          </a:p>
        </p:txBody>
      </p:sp>
      <p:sp>
        <p:nvSpPr>
          <p:cNvPr id="23" name="TextBox 22"/>
          <p:cNvSpPr txBox="1"/>
          <p:nvPr/>
        </p:nvSpPr>
        <p:spPr>
          <a:xfrm>
            <a:off x="3771900" y="4579620"/>
            <a:ext cx="20421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on hand · reserved</a:t>
            </a:r>
          </a:p>
        </p:txBody>
      </p:sp>
      <p:sp>
        <p:nvSpPr>
          <p:cNvPr id="24" name="Rounded Rectangle 23"/>
          <p:cNvSpPr/>
          <p:nvPr/>
        </p:nvSpPr>
        <p:spPr>
          <a:xfrm>
            <a:off x="6705600" y="3962399"/>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05600" y="3962399"/>
            <a:ext cx="38100" cy="11049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96100" y="41605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Movement</a:t>
            </a:r>
          </a:p>
        </p:txBody>
      </p:sp>
      <p:sp>
        <p:nvSpPr>
          <p:cNvPr id="27" name="TextBox 26"/>
          <p:cNvSpPr txBox="1"/>
          <p:nvPr/>
        </p:nvSpPr>
        <p:spPr>
          <a:xfrm>
            <a:off x="6896100" y="4579620"/>
            <a:ext cx="2042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kind · quantity · retry</a:t>
            </a:r>
          </a:p>
          <a:p>
            <a:pPr>
              <a:lnSpc>
                <a:spcPct val="130000"/>
              </a:lnSpc>
              <a:spcBef>
                <a:spcPts val="0"/>
              </a:spcBef>
              <a:spcAft>
                <a:spcPts val="0"/>
              </a:spcAft>
              <a:defRPr sz="1439" b="0">
                <a:solidFill>
                  <a:srgbClr val="A9BAC4"/>
                </a:solidFill>
                <a:latin typeface="Noto Sans"/>
              </a:defRPr>
            </a:pPr>
            <a:r>
              <a:t>key</a:t>
            </a:r>
          </a:p>
        </p:txBody>
      </p:sp>
      <p:sp>
        <p:nvSpPr>
          <p:cNvPr id="28" name="Rounded Rectangle 27"/>
          <p:cNvSpPr/>
          <p:nvPr/>
        </p:nvSpPr>
        <p:spPr>
          <a:xfrm>
            <a:off x="457200" y="3962399"/>
            <a:ext cx="2362200" cy="11049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962399"/>
            <a:ext cx="38100" cy="11049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 y="4160520"/>
            <a:ext cx="2042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Purchase order</a:t>
            </a:r>
          </a:p>
        </p:txBody>
      </p:sp>
      <p:sp>
        <p:nvSpPr>
          <p:cNvPr id="31" name="TextBox 30"/>
          <p:cNvSpPr txBox="1"/>
          <p:nvPr/>
        </p:nvSpPr>
        <p:spPr>
          <a:xfrm>
            <a:off x="647700" y="4579620"/>
            <a:ext cx="20421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status · order lines</a:t>
            </a:r>
          </a:p>
        </p:txBody>
      </p:sp>
      <p:cxnSp>
        <p:nvCxnSpPr>
          <p:cNvPr id="32" name="Connector 31"/>
          <p:cNvCxnSpPr/>
          <p:nvPr/>
        </p:nvCxnSpPr>
        <p:spPr>
          <a:xfrm>
            <a:off x="2819400" y="2476500"/>
            <a:ext cx="685800" cy="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3401260" y="2476500"/>
            <a:ext cx="103940" cy="63726"/>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3401260" y="2412773"/>
            <a:ext cx="103940" cy="63727"/>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762500" y="3048000"/>
            <a:ext cx="0" cy="838200"/>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4698773" y="3782260"/>
            <a:ext cx="63727" cy="103940"/>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762500" y="3782260"/>
            <a:ext cx="63726" cy="103940"/>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943600" y="3048000"/>
            <a:ext cx="1943100" cy="914399"/>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943600" y="3860482"/>
            <a:ext cx="66912" cy="101917"/>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43600" y="3962399"/>
            <a:ext cx="121181" cy="13404"/>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38300" y="3048000"/>
            <a:ext cx="0" cy="83820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574573" y="3782260"/>
            <a:ext cx="63727" cy="10394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638300" y="3782260"/>
            <a:ext cx="63726" cy="10394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525000" y="1943100"/>
            <a:ext cx="2209800" cy="312420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15500" y="2164080"/>
            <a:ext cx="18897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INVARIANTS</a:t>
            </a:r>
          </a:p>
        </p:txBody>
      </p:sp>
      <p:sp>
        <p:nvSpPr>
          <p:cNvPr id="46" name="TextBox 45"/>
          <p:cNvSpPr txBox="1"/>
          <p:nvPr/>
        </p:nvSpPr>
        <p:spPr>
          <a:xfrm>
            <a:off x="9715500" y="2598420"/>
            <a:ext cx="1889760" cy="1691640"/>
          </a:xfrm>
          <a:prstGeom prst="rect">
            <a:avLst/>
          </a:prstGeom>
          <a:noFill/>
        </p:spPr>
        <p:txBody>
          <a:bodyPr wrap="none" lIns="0" rIns="0" tIns="0" bIns="0">
            <a:spAutoFit/>
          </a:bodyPr>
          <a:lstStyle/>
          <a:p>
            <a:pPr>
              <a:lnSpc>
                <a:spcPct val="130000"/>
              </a:lnSpc>
              <a:spcBef>
                <a:spcPts val="0"/>
              </a:spcBef>
              <a:spcAft>
                <a:spcPts val="0"/>
              </a:spcAft>
              <a:defRPr sz="1380" b="0">
                <a:solidFill>
                  <a:srgbClr val="F4F2EB"/>
                </a:solidFill>
                <a:latin typeface="Noto Sans"/>
              </a:defRPr>
            </a:pPr>
            <a:r>
              <a:t>One balance per</a:t>
            </a:r>
          </a:p>
          <a:p>
            <a:pPr>
              <a:lnSpc>
                <a:spcPct val="130000"/>
              </a:lnSpc>
              <a:spcBef>
                <a:spcPts val="0"/>
              </a:spcBef>
              <a:spcAft>
                <a:spcPts val="0"/>
              </a:spcAft>
              <a:defRPr sz="1380" b="0">
                <a:solidFill>
                  <a:srgbClr val="F4F2EB"/>
                </a:solidFill>
                <a:latin typeface="Noto Sans"/>
              </a:defRPr>
            </a:pPr>
            <a:r>
              <a:t>product + warehouse</a:t>
            </a:r>
          </a:p>
          <a:p>
            <a:pPr>
              <a:lnSpc>
                <a:spcPct val="130000"/>
              </a:lnSpc>
              <a:spcBef>
                <a:spcPts val="0"/>
              </a:spcBef>
              <a:spcAft>
                <a:spcPts val="0"/>
              </a:spcAft>
              <a:defRPr sz="1380" b="0">
                <a:solidFill>
                  <a:srgbClr val="F4F2EB"/>
                </a:solidFill>
                <a:latin typeface="Noto Sans"/>
              </a:defRPr>
            </a:pPr>
          </a:p>
          <a:p>
            <a:pPr>
              <a:lnSpc>
                <a:spcPct val="130000"/>
              </a:lnSpc>
              <a:spcBef>
                <a:spcPts val="0"/>
              </a:spcBef>
              <a:spcAft>
                <a:spcPts val="0"/>
              </a:spcAft>
              <a:defRPr sz="1380" b="0">
                <a:solidFill>
                  <a:srgbClr val="F4F2EB"/>
                </a:solidFill>
                <a:latin typeface="Noto Sans"/>
              </a:defRPr>
            </a:pPr>
            <a:r>
              <a:t>0 ≤ reserved</a:t>
            </a:r>
          </a:p>
          <a:p>
            <a:pPr>
              <a:lnSpc>
                <a:spcPct val="130000"/>
              </a:lnSpc>
              <a:spcBef>
                <a:spcPts val="0"/>
              </a:spcBef>
              <a:spcAft>
                <a:spcPts val="0"/>
              </a:spcAft>
              <a:defRPr sz="1380" b="0">
                <a:solidFill>
                  <a:srgbClr val="F4F2EB"/>
                </a:solidFill>
                <a:latin typeface="Noto Sans"/>
              </a:defRPr>
            </a:pPr>
            <a:r>
              <a:t>reserved ≤ on hand</a:t>
            </a:r>
          </a:p>
          <a:p>
            <a:pPr>
              <a:lnSpc>
                <a:spcPct val="130000"/>
              </a:lnSpc>
              <a:spcBef>
                <a:spcPts val="0"/>
              </a:spcBef>
              <a:spcAft>
                <a:spcPts val="0"/>
              </a:spcAft>
              <a:defRPr sz="1380" b="0">
                <a:solidFill>
                  <a:srgbClr val="F4F2EB"/>
                </a:solidFill>
                <a:latin typeface="Noto Sans"/>
              </a:defRPr>
            </a:pPr>
          </a:p>
          <a:p>
            <a:pPr>
              <a:lnSpc>
                <a:spcPct val="130000"/>
              </a:lnSpc>
              <a:spcBef>
                <a:spcPts val="0"/>
              </a:spcBef>
              <a:spcAft>
                <a:spcPts val="0"/>
              </a:spcAft>
              <a:defRPr sz="1380" b="0">
                <a:solidFill>
                  <a:srgbClr val="F4F2EB"/>
                </a:solidFill>
                <a:latin typeface="Noto Sans"/>
              </a:defRPr>
            </a:pPr>
            <a:r>
              <a:t>Positive quantities</a:t>
            </a:r>
          </a:p>
        </p:txBody>
      </p:sp>
      <p:sp>
        <p:nvSpPr>
          <p:cNvPr id="47" name="TextBox 46"/>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Additional entity: Reservation. Foreign keys protect referenced inventory history from accidental deletion.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FRONTEND FEATURE WALKTHROUGH</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A practical operations workspace.</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06 / 18</a:t>
            </a:r>
          </a:p>
        </p:txBody>
      </p:sp>
      <p:sp>
        <p:nvSpPr>
          <p:cNvPr id="8" name="Rounded Rectangle 7"/>
          <p:cNvSpPr/>
          <p:nvPr/>
        </p:nvSpPr>
        <p:spPr>
          <a:xfrm>
            <a:off x="457200" y="1866899"/>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66899"/>
            <a:ext cx="38100" cy="16383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0650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Overview + inventory</a:t>
            </a:r>
          </a:p>
        </p:txBody>
      </p:sp>
      <p:sp>
        <p:nvSpPr>
          <p:cNvPr id="11" name="TextBox 10"/>
          <p:cNvSpPr txBox="1"/>
          <p:nvPr/>
        </p:nvSpPr>
        <p:spPr>
          <a:xfrm>
            <a:off x="647700" y="24841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Warehouse distribution, stock value, available units,</a:t>
            </a:r>
          </a:p>
          <a:p>
            <a:pPr>
              <a:lnSpc>
                <a:spcPct val="130000"/>
              </a:lnSpc>
              <a:spcBef>
                <a:spcPts val="0"/>
              </a:spcBef>
              <a:spcAft>
                <a:spcPts val="0"/>
              </a:spcAft>
              <a:defRPr sz="1439" b="0">
                <a:solidFill>
                  <a:srgbClr val="A9BAC4"/>
                </a:solidFill>
                <a:latin typeface="Noto Sans"/>
              </a:defRPr>
            </a:pPr>
            <a:r>
              <a:t>low-stock signals and recent activity.</a:t>
            </a:r>
          </a:p>
        </p:txBody>
      </p:sp>
      <p:sp>
        <p:nvSpPr>
          <p:cNvPr id="12" name="Rounded Rectangle 11"/>
          <p:cNvSpPr/>
          <p:nvPr/>
        </p:nvSpPr>
        <p:spPr>
          <a:xfrm>
            <a:off x="6324600" y="1866899"/>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600" y="1866899"/>
            <a:ext cx="38100" cy="16383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5100" y="20650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Products + suppliers</a:t>
            </a:r>
          </a:p>
        </p:txBody>
      </p:sp>
      <p:sp>
        <p:nvSpPr>
          <p:cNvPr id="15" name="TextBox 14"/>
          <p:cNvSpPr txBox="1"/>
          <p:nvPr/>
        </p:nvSpPr>
        <p:spPr>
          <a:xfrm>
            <a:off x="6515100" y="24841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Searchable catalogue, categories, supplier associations,</a:t>
            </a:r>
          </a:p>
          <a:p>
            <a:pPr>
              <a:lnSpc>
                <a:spcPct val="130000"/>
              </a:lnSpc>
              <a:spcBef>
                <a:spcPts val="0"/>
              </a:spcBef>
              <a:spcAft>
                <a:spcPts val="0"/>
              </a:spcAft>
              <a:defRPr sz="1439" b="0">
                <a:solidFill>
                  <a:srgbClr val="A9BAC4"/>
                </a:solidFill>
                <a:latin typeface="Noto Sans"/>
              </a:defRPr>
            </a:pPr>
            <a:r>
              <a:t>reorder thresholds and editable records.</a:t>
            </a:r>
          </a:p>
        </p:txBody>
      </p:sp>
      <p:sp>
        <p:nvSpPr>
          <p:cNvPr id="16" name="Rounded Rectangle 15"/>
          <p:cNvSpPr/>
          <p:nvPr/>
        </p:nvSpPr>
        <p:spPr>
          <a:xfrm>
            <a:off x="457200" y="38100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10000"/>
            <a:ext cx="38100" cy="16383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700" y="40081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Movements + reservations</a:t>
            </a:r>
          </a:p>
        </p:txBody>
      </p:sp>
      <p:sp>
        <p:nvSpPr>
          <p:cNvPr id="19" name="TextBox 18"/>
          <p:cNvSpPr txBox="1"/>
          <p:nvPr/>
        </p:nvSpPr>
        <p:spPr>
          <a:xfrm>
            <a:off x="647700" y="44272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Receive, issue or transfer stock; reserve units; release a</a:t>
            </a:r>
          </a:p>
          <a:p>
            <a:pPr>
              <a:lnSpc>
                <a:spcPct val="130000"/>
              </a:lnSpc>
              <a:spcBef>
                <a:spcPts val="0"/>
              </a:spcBef>
              <a:spcAft>
                <a:spcPts val="0"/>
              </a:spcAft>
              <a:defRPr sz="1439" b="0">
                <a:solidFill>
                  <a:srgbClr val="A9BAC4"/>
                </a:solidFill>
                <a:latin typeface="Noto Sans"/>
              </a:defRPr>
            </a:pPr>
            <a:r>
              <a:t>promise or fulfil it into a stock issue.</a:t>
            </a:r>
          </a:p>
        </p:txBody>
      </p:sp>
      <p:sp>
        <p:nvSpPr>
          <p:cNvPr id="20" name="Rounded Rectangle 19"/>
          <p:cNvSpPr/>
          <p:nvPr/>
        </p:nvSpPr>
        <p:spPr>
          <a:xfrm>
            <a:off x="6324600" y="38100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24600" y="3810000"/>
            <a:ext cx="38100" cy="16383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5100" y="40081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Procurement</a:t>
            </a:r>
          </a:p>
        </p:txBody>
      </p:sp>
      <p:sp>
        <p:nvSpPr>
          <p:cNvPr id="23" name="TextBox 22"/>
          <p:cNvSpPr txBox="1"/>
          <p:nvPr/>
        </p:nvSpPr>
        <p:spPr>
          <a:xfrm>
            <a:off x="6515100" y="44272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Create purchase orders and advance permitted transitions</a:t>
            </a:r>
          </a:p>
          <a:p>
            <a:pPr>
              <a:lnSpc>
                <a:spcPct val="130000"/>
              </a:lnSpc>
              <a:spcBef>
                <a:spcPts val="0"/>
              </a:spcBef>
              <a:spcAft>
                <a:spcPts val="0"/>
              </a:spcAft>
              <a:defRPr sz="1439" b="0">
                <a:solidFill>
                  <a:srgbClr val="A9BAC4"/>
                </a:solidFill>
                <a:latin typeface="Noto Sans"/>
              </a:defRPr>
            </a:pPr>
            <a:r>
              <a:t>from draft to ordered to received.</a:t>
            </a:r>
          </a:p>
        </p:txBody>
      </p:sp>
      <p:sp>
        <p:nvSpPr>
          <p:cNvPr id="24" name="TextBox 23"/>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Feature map based on application source; this diagram is not a captured browser screenshot.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WORKFLOW 01 / STOCK MOVEMENT</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A transfer is one transaction, not two edits.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07 / 18</a:t>
            </a:r>
          </a:p>
        </p:txBody>
      </p:sp>
      <p:sp>
        <p:nvSpPr>
          <p:cNvPr id="8" name="TextBox 7"/>
          <p:cNvSpPr txBox="1"/>
          <p:nvPr/>
        </p:nvSpPr>
        <p:spPr>
          <a:xfrm>
            <a:off x="495299" y="1744980"/>
            <a:ext cx="11109960" cy="358140"/>
          </a:xfrm>
          <a:prstGeom prst="rect">
            <a:avLst/>
          </a:prstGeom>
          <a:noFill/>
        </p:spPr>
        <p:txBody>
          <a:bodyPr wrap="none" lIns="0" rIns="0" tIns="0" bIns="0">
            <a:spAutoFit/>
          </a:bodyPr>
          <a:lstStyle/>
          <a:p>
            <a:pPr>
              <a:lnSpc>
                <a:spcPct val="130000"/>
              </a:lnSpc>
              <a:spcBef>
                <a:spcPts val="0"/>
              </a:spcBef>
              <a:spcAft>
                <a:spcPts val="0"/>
              </a:spcAft>
              <a:defRPr sz="1620" b="0">
                <a:solidFill>
                  <a:srgbClr val="A9BAC4"/>
                </a:solidFill>
                <a:latin typeface="Noto Sans"/>
              </a:defRPr>
            </a:pPr>
            <a:r>
              <a:t>Illustrative example: transfer 20 keyboards from Delhi to Bengaluru</a:t>
            </a:r>
          </a:p>
        </p:txBody>
      </p:sp>
      <p:sp>
        <p:nvSpPr>
          <p:cNvPr id="9" name="Rounded Rectangle 8"/>
          <p:cNvSpPr/>
          <p:nvPr/>
        </p:nvSpPr>
        <p:spPr>
          <a:xfrm>
            <a:off x="457200" y="2400300"/>
            <a:ext cx="3505200" cy="1905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400300"/>
            <a:ext cx="38100" cy="19050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2598420"/>
            <a:ext cx="3185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DELHI / SOURCE</a:t>
            </a:r>
          </a:p>
        </p:txBody>
      </p:sp>
      <p:sp>
        <p:nvSpPr>
          <p:cNvPr id="12" name="TextBox 11"/>
          <p:cNvSpPr txBox="1"/>
          <p:nvPr/>
        </p:nvSpPr>
        <p:spPr>
          <a:xfrm>
            <a:off x="647700" y="3017520"/>
            <a:ext cx="31851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Before: 100 on hand</a:t>
            </a:r>
          </a:p>
          <a:p>
            <a:pPr>
              <a:lnSpc>
                <a:spcPct val="130000"/>
              </a:lnSpc>
              <a:spcBef>
                <a:spcPts val="0"/>
              </a:spcBef>
              <a:spcAft>
                <a:spcPts val="0"/>
              </a:spcAft>
              <a:defRPr sz="1439" b="0">
                <a:solidFill>
                  <a:srgbClr val="A9BAC4"/>
                </a:solidFill>
                <a:latin typeface="Noto Sans"/>
              </a:defRPr>
            </a:pPr>
            <a:r>
              <a:t>Reserved: 10</a:t>
            </a:r>
          </a:p>
          <a:p>
            <a:pPr>
              <a:lnSpc>
                <a:spcPct val="130000"/>
              </a:lnSpc>
              <a:spcBef>
                <a:spcPts val="0"/>
              </a:spcBef>
              <a:spcAft>
                <a:spcPts val="0"/>
              </a:spcAft>
              <a:defRPr sz="1439" b="0">
                <a:solidFill>
                  <a:srgbClr val="A9BAC4"/>
                </a:solidFill>
                <a:latin typeface="Noto Sans"/>
              </a:defRPr>
            </a:pPr>
            <a:r>
              <a:t>After: 80 on hand</a:t>
            </a:r>
          </a:p>
        </p:txBody>
      </p:sp>
      <p:sp>
        <p:nvSpPr>
          <p:cNvPr id="13" name="Rounded Rectangle 12"/>
          <p:cNvSpPr/>
          <p:nvPr/>
        </p:nvSpPr>
        <p:spPr>
          <a:xfrm>
            <a:off x="8229600" y="2400300"/>
            <a:ext cx="3505200" cy="1905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2400300"/>
            <a:ext cx="38100" cy="19050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0100" y="2598420"/>
            <a:ext cx="3185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BENGALURU / TARGET</a:t>
            </a:r>
          </a:p>
        </p:txBody>
      </p:sp>
      <p:sp>
        <p:nvSpPr>
          <p:cNvPr id="16" name="TextBox 15"/>
          <p:cNvSpPr txBox="1"/>
          <p:nvPr/>
        </p:nvSpPr>
        <p:spPr>
          <a:xfrm>
            <a:off x="8420100" y="3017520"/>
            <a:ext cx="31851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Before: 40 on hand</a:t>
            </a:r>
          </a:p>
          <a:p>
            <a:pPr>
              <a:lnSpc>
                <a:spcPct val="130000"/>
              </a:lnSpc>
              <a:spcBef>
                <a:spcPts val="0"/>
              </a:spcBef>
              <a:spcAft>
                <a:spcPts val="0"/>
              </a:spcAft>
              <a:defRPr sz="1439" b="0">
                <a:solidFill>
                  <a:srgbClr val="A9BAC4"/>
                </a:solidFill>
                <a:latin typeface="Noto Sans"/>
              </a:defRPr>
            </a:pPr>
            <a:r>
              <a:t>Reserved: 0</a:t>
            </a:r>
          </a:p>
          <a:p>
            <a:pPr>
              <a:lnSpc>
                <a:spcPct val="130000"/>
              </a:lnSpc>
              <a:spcBef>
                <a:spcPts val="0"/>
              </a:spcBef>
              <a:spcAft>
                <a:spcPts val="0"/>
              </a:spcAft>
              <a:defRPr sz="1439" b="0">
                <a:solidFill>
                  <a:srgbClr val="A9BAC4"/>
                </a:solidFill>
                <a:latin typeface="Noto Sans"/>
              </a:defRPr>
            </a:pPr>
            <a:r>
              <a:t>After: 60 on hand</a:t>
            </a:r>
          </a:p>
        </p:txBody>
      </p:sp>
      <p:cxnSp>
        <p:nvCxnSpPr>
          <p:cNvPr id="17" name="Connector 16"/>
          <p:cNvCxnSpPr/>
          <p:nvPr/>
        </p:nvCxnSpPr>
        <p:spPr>
          <a:xfrm>
            <a:off x="4076699" y="3268980"/>
            <a:ext cx="4038601" cy="0"/>
          </a:xfrm>
          <a:prstGeom prst="line">
            <a:avLst/>
          </a:prstGeom>
          <a:ln w="3810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8011360" y="3268980"/>
            <a:ext cx="103940" cy="63726"/>
          </a:xfrm>
          <a:prstGeom prst="line">
            <a:avLst/>
          </a:prstGeom>
          <a:ln w="3810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8011360" y="3205253"/>
            <a:ext cx="103940" cy="63727"/>
          </a:xfrm>
          <a:prstGeom prst="line">
            <a:avLst/>
          </a:prstGeom>
          <a:ln w="38100">
            <a:solidFill>
              <a:srgbClr val="FFAE7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739640" y="2781300"/>
            <a:ext cx="2514600" cy="2895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1560" y="2834640"/>
            <a:ext cx="236220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FFAE79"/>
                </a:solidFill>
                <a:latin typeface="Noto Sans"/>
              </a:defRPr>
            </a:pPr>
            <a:r>
              <a:t>TRANSFER 20 UNITS</a:t>
            </a:r>
          </a:p>
        </p:txBody>
      </p:sp>
      <p:sp>
        <p:nvSpPr>
          <p:cNvPr id="22" name="TextBox 21"/>
          <p:cNvSpPr txBox="1"/>
          <p:nvPr/>
        </p:nvSpPr>
        <p:spPr>
          <a:xfrm>
            <a:off x="4419600" y="3535680"/>
            <a:ext cx="3566160" cy="381000"/>
          </a:xfrm>
          <a:prstGeom prst="rect">
            <a:avLst/>
          </a:prstGeom>
          <a:noFill/>
        </p:spPr>
        <p:txBody>
          <a:bodyPr wrap="none" lIns="0" rIns="0" tIns="0" bIns="0">
            <a:spAutoFit/>
          </a:bodyPr>
          <a:lstStyle/>
          <a:p>
            <a:pPr>
              <a:lnSpc>
                <a:spcPct val="130000"/>
              </a:lnSpc>
              <a:spcBef>
                <a:spcPts val="0"/>
              </a:spcBef>
              <a:spcAft>
                <a:spcPts val="0"/>
              </a:spcAft>
              <a:defRPr sz="1739" b="1">
                <a:solidFill>
                  <a:srgbClr val="F4F2EB"/>
                </a:solidFill>
                <a:latin typeface="Noto Sans"/>
              </a:defRPr>
            </a:pPr>
            <a:r>
              <a:t>140 total → 140 total</a:t>
            </a:r>
          </a:p>
        </p:txBody>
      </p:sp>
      <p:sp>
        <p:nvSpPr>
          <p:cNvPr id="23" name="Rounded Rectangle 22"/>
          <p:cNvSpPr/>
          <p:nvPr/>
        </p:nvSpPr>
        <p:spPr>
          <a:xfrm>
            <a:off x="457200" y="4686300"/>
            <a:ext cx="11277600" cy="83058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84420"/>
            <a:ext cx="10881360" cy="335280"/>
          </a:xfrm>
          <a:prstGeom prst="rect">
            <a:avLst/>
          </a:prstGeom>
          <a:noFill/>
        </p:spPr>
        <p:txBody>
          <a:bodyPr wrap="none" lIns="0" rIns="0" tIns="0" bIns="0">
            <a:spAutoFit/>
          </a:bodyPr>
          <a:lstStyle/>
          <a:p>
            <a:pPr>
              <a:lnSpc>
                <a:spcPct val="130000"/>
              </a:lnSpc>
              <a:spcBef>
                <a:spcPts val="0"/>
              </a:spcBef>
              <a:spcAft>
                <a:spcPts val="0"/>
              </a:spcAft>
              <a:defRPr sz="1500" b="1">
                <a:solidFill>
                  <a:srgbClr val="76E0BD"/>
                </a:solidFill>
                <a:latin typeface="Noto Sans"/>
              </a:defRPr>
            </a:pPr>
            <a:r>
              <a:t>Validate → lock product → check available → update both balances → append movement → commit</a:t>
            </a:r>
          </a:p>
        </p:txBody>
      </p:sp>
      <p:sp>
        <p:nvSpPr>
          <p:cNvPr id="25" name="TextBox 24"/>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The numbers above illustrate the rule; real execution results are recorded separately in the evidence files.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WORKFLOW 02 / RESERVATION LIFECYCLE</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A reservation changes availability first.</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08 / 18</a:t>
            </a:r>
          </a:p>
        </p:txBody>
      </p:sp>
      <p:sp>
        <p:nvSpPr>
          <p:cNvPr id="8" name="TextBox 7"/>
          <p:cNvSpPr txBox="1"/>
          <p:nvPr/>
        </p:nvSpPr>
        <p:spPr>
          <a:xfrm>
            <a:off x="495299" y="1714500"/>
            <a:ext cx="11262360" cy="518160"/>
          </a:xfrm>
          <a:prstGeom prst="rect">
            <a:avLst/>
          </a:prstGeom>
          <a:noFill/>
        </p:spPr>
        <p:txBody>
          <a:bodyPr wrap="none" lIns="0" rIns="0" tIns="0" bIns="0">
            <a:spAutoFit/>
          </a:bodyPr>
          <a:lstStyle/>
          <a:p>
            <a:pPr>
              <a:lnSpc>
                <a:spcPct val="130000"/>
              </a:lnSpc>
              <a:spcBef>
                <a:spcPts val="0"/>
              </a:spcBef>
              <a:spcAft>
                <a:spcPts val="0"/>
              </a:spcAft>
              <a:defRPr sz="2580" b="1">
                <a:solidFill>
                  <a:srgbClr val="76E0BD"/>
                </a:solidFill>
                <a:latin typeface="Noto Sans"/>
              </a:defRPr>
            </a:pPr>
            <a:r>
              <a:t>AVAILABLE = ON HAND − RESERVED</a:t>
            </a:r>
          </a:p>
        </p:txBody>
      </p:sp>
      <p:sp>
        <p:nvSpPr>
          <p:cNvPr id="9" name="Rounded Rectangle 8"/>
          <p:cNvSpPr/>
          <p:nvPr/>
        </p:nvSpPr>
        <p:spPr>
          <a:xfrm>
            <a:off x="457200" y="2575560"/>
            <a:ext cx="3276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75560"/>
            <a:ext cx="38100" cy="18288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2773680"/>
            <a:ext cx="2956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ACTIVE</a:t>
            </a:r>
          </a:p>
        </p:txBody>
      </p:sp>
      <p:sp>
        <p:nvSpPr>
          <p:cNvPr id="12" name="TextBox 11"/>
          <p:cNvSpPr txBox="1"/>
          <p:nvPr/>
        </p:nvSpPr>
        <p:spPr>
          <a:xfrm>
            <a:off x="647700" y="3192780"/>
            <a:ext cx="29565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Reserve units without</a:t>
            </a:r>
          </a:p>
          <a:p>
            <a:pPr>
              <a:lnSpc>
                <a:spcPct val="130000"/>
              </a:lnSpc>
              <a:spcBef>
                <a:spcPts val="0"/>
              </a:spcBef>
              <a:spcAft>
                <a:spcPts val="0"/>
              </a:spcAft>
              <a:defRPr sz="1439" b="0">
                <a:solidFill>
                  <a:srgbClr val="A9BAC4"/>
                </a:solidFill>
                <a:latin typeface="Noto Sans"/>
              </a:defRPr>
            </a:pPr>
            <a:r>
              <a:t>immediately reducing physical</a:t>
            </a:r>
          </a:p>
          <a:p>
            <a:pPr>
              <a:lnSpc>
                <a:spcPct val="130000"/>
              </a:lnSpc>
              <a:spcBef>
                <a:spcPts val="0"/>
              </a:spcBef>
              <a:spcAft>
                <a:spcPts val="0"/>
              </a:spcAft>
              <a:defRPr sz="1439" b="0">
                <a:solidFill>
                  <a:srgbClr val="A9BAC4"/>
                </a:solidFill>
                <a:latin typeface="Noto Sans"/>
              </a:defRPr>
            </a:pPr>
            <a:r>
              <a:t>stock.</a:t>
            </a:r>
          </a:p>
        </p:txBody>
      </p:sp>
      <p:sp>
        <p:nvSpPr>
          <p:cNvPr id="13" name="Rounded Rectangle 12"/>
          <p:cNvSpPr/>
          <p:nvPr/>
        </p:nvSpPr>
        <p:spPr>
          <a:xfrm>
            <a:off x="4572000" y="2575560"/>
            <a:ext cx="3276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2575560"/>
            <a:ext cx="38100" cy="18288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62500" y="2773680"/>
            <a:ext cx="2956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RELEASED</a:t>
            </a:r>
          </a:p>
        </p:txBody>
      </p:sp>
      <p:sp>
        <p:nvSpPr>
          <p:cNvPr id="16" name="TextBox 15"/>
          <p:cNvSpPr txBox="1"/>
          <p:nvPr/>
        </p:nvSpPr>
        <p:spPr>
          <a:xfrm>
            <a:off x="4762500" y="3192780"/>
            <a:ext cx="29565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Return units to availability.</a:t>
            </a:r>
          </a:p>
          <a:p>
            <a:pPr>
              <a:lnSpc>
                <a:spcPct val="130000"/>
              </a:lnSpc>
              <a:spcBef>
                <a:spcPts val="0"/>
              </a:spcBef>
              <a:spcAft>
                <a:spcPts val="0"/>
              </a:spcAft>
              <a:defRPr sz="1439" b="0">
                <a:solidFill>
                  <a:srgbClr val="A9BAC4"/>
                </a:solidFill>
                <a:latin typeface="Noto Sans"/>
              </a:defRPr>
            </a:pPr>
            <a:r>
              <a:t>Physical stock remains</a:t>
            </a:r>
          </a:p>
          <a:p>
            <a:pPr>
              <a:lnSpc>
                <a:spcPct val="130000"/>
              </a:lnSpc>
              <a:spcBef>
                <a:spcPts val="0"/>
              </a:spcBef>
              <a:spcAft>
                <a:spcPts val="0"/>
              </a:spcAft>
              <a:defRPr sz="1439" b="0">
                <a:solidFill>
                  <a:srgbClr val="A9BAC4"/>
                </a:solidFill>
                <a:latin typeface="Noto Sans"/>
              </a:defRPr>
            </a:pPr>
            <a:r>
              <a:t>unchanged.</a:t>
            </a:r>
          </a:p>
        </p:txBody>
      </p:sp>
      <p:sp>
        <p:nvSpPr>
          <p:cNvPr id="17" name="Rounded Rectangle 16"/>
          <p:cNvSpPr/>
          <p:nvPr/>
        </p:nvSpPr>
        <p:spPr>
          <a:xfrm>
            <a:off x="8458200" y="2575560"/>
            <a:ext cx="3276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2575560"/>
            <a:ext cx="38100" cy="18288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8700" y="2773680"/>
            <a:ext cx="2956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FULFILLED</a:t>
            </a:r>
          </a:p>
        </p:txBody>
      </p:sp>
      <p:sp>
        <p:nvSpPr>
          <p:cNvPr id="20" name="TextBox 19"/>
          <p:cNvSpPr txBox="1"/>
          <p:nvPr/>
        </p:nvSpPr>
        <p:spPr>
          <a:xfrm>
            <a:off x="8648700" y="3192780"/>
            <a:ext cx="29565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Reduce reserved stock and create</a:t>
            </a:r>
          </a:p>
          <a:p>
            <a:pPr>
              <a:lnSpc>
                <a:spcPct val="130000"/>
              </a:lnSpc>
              <a:spcBef>
                <a:spcPts val="0"/>
              </a:spcBef>
              <a:spcAft>
                <a:spcPts val="0"/>
              </a:spcAft>
              <a:defRPr sz="1439" b="0">
                <a:solidFill>
                  <a:srgbClr val="A9BAC4"/>
                </a:solidFill>
                <a:latin typeface="Noto Sans"/>
              </a:defRPr>
            </a:pPr>
            <a:r>
              <a:t>the matching issue movement.</a:t>
            </a:r>
          </a:p>
        </p:txBody>
      </p:sp>
      <p:cxnSp>
        <p:nvCxnSpPr>
          <p:cNvPr id="21" name="Connector 20"/>
          <p:cNvCxnSpPr/>
          <p:nvPr/>
        </p:nvCxnSpPr>
        <p:spPr>
          <a:xfrm>
            <a:off x="3733799" y="3086100"/>
            <a:ext cx="723901" cy="0"/>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353760" y="3086100"/>
            <a:ext cx="103940" cy="63726"/>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353760" y="3022373"/>
            <a:ext cx="103940" cy="63727"/>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799" y="4686300"/>
            <a:ext cx="6362701" cy="0"/>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9992560" y="4686300"/>
            <a:ext cx="103940" cy="63726"/>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9992560" y="4622573"/>
            <a:ext cx="103940" cy="63727"/>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095499" y="4404360"/>
            <a:ext cx="0" cy="281940"/>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0096500" y="4495800"/>
            <a:ext cx="0" cy="190500"/>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096500" y="4495800"/>
            <a:ext cx="63726" cy="103939"/>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0032773" y="4495800"/>
            <a:ext cx="63727" cy="103939"/>
          </a:xfrm>
          <a:prstGeom prst="line">
            <a:avLst/>
          </a:prstGeom>
          <a:ln w="30480">
            <a:solidFill>
              <a:srgbClr val="FFAE79"/>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95299" y="5105400"/>
            <a:ext cx="11186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Closed reservations cannot switch to a conflicting final state.</a:t>
            </a:r>
          </a:p>
        </p:txBody>
      </p:sp>
      <p:sp>
        <p:nvSpPr>
          <p:cNvPr id="32" name="TextBox 31"/>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Repeated completion of the same action is safe; insufficient available stock returns a conflict.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WORKFLOW 03 / PURCHASE ORDER LIFECYCLE</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Receiving closes the procurement loop.</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09 / 18</a:t>
            </a:r>
          </a:p>
        </p:txBody>
      </p:sp>
      <p:sp>
        <p:nvSpPr>
          <p:cNvPr id="8" name="Rounded Rectangle 7"/>
          <p:cNvSpPr/>
          <p:nvPr/>
        </p:nvSpPr>
        <p:spPr>
          <a:xfrm>
            <a:off x="457200" y="2247900"/>
            <a:ext cx="3581400" cy="1905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47900"/>
            <a:ext cx="38100" cy="19050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4460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DRAFT</a:t>
            </a:r>
          </a:p>
        </p:txBody>
      </p:sp>
      <p:sp>
        <p:nvSpPr>
          <p:cNvPr id="11" name="TextBox 10"/>
          <p:cNvSpPr txBox="1"/>
          <p:nvPr/>
        </p:nvSpPr>
        <p:spPr>
          <a:xfrm>
            <a:off x="647700" y="286512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Editable supplier,</a:t>
            </a:r>
          </a:p>
          <a:p>
            <a:pPr>
              <a:lnSpc>
                <a:spcPct val="130000"/>
              </a:lnSpc>
              <a:spcBef>
                <a:spcPts val="0"/>
              </a:spcBef>
              <a:spcAft>
                <a:spcPts val="0"/>
              </a:spcAft>
              <a:defRPr sz="1439" b="0">
                <a:solidFill>
                  <a:srgbClr val="A9BAC4"/>
                </a:solidFill>
                <a:latin typeface="Noto Sans"/>
              </a:defRPr>
            </a:pPr>
            <a:r>
              <a:t>warehouse and lines</a:t>
            </a:r>
          </a:p>
        </p:txBody>
      </p:sp>
      <p:sp>
        <p:nvSpPr>
          <p:cNvPr id="12" name="Rounded Rectangle 11"/>
          <p:cNvSpPr/>
          <p:nvPr/>
        </p:nvSpPr>
        <p:spPr>
          <a:xfrm>
            <a:off x="4305300" y="2247900"/>
            <a:ext cx="3581400" cy="1905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5300" y="2247900"/>
            <a:ext cx="38100" cy="19050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24460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ORDERED</a:t>
            </a:r>
          </a:p>
        </p:txBody>
      </p:sp>
      <p:sp>
        <p:nvSpPr>
          <p:cNvPr id="15" name="TextBox 14"/>
          <p:cNvSpPr txBox="1"/>
          <p:nvPr/>
        </p:nvSpPr>
        <p:spPr>
          <a:xfrm>
            <a:off x="4495800" y="286512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Confirmed intent</a:t>
            </a:r>
          </a:p>
          <a:p>
            <a:pPr>
              <a:lnSpc>
                <a:spcPct val="130000"/>
              </a:lnSpc>
              <a:spcBef>
                <a:spcPts val="0"/>
              </a:spcBef>
              <a:spcAft>
                <a:spcPts val="0"/>
              </a:spcAft>
              <a:defRPr sz="1439" b="0">
                <a:solidFill>
                  <a:srgbClr val="A9BAC4"/>
                </a:solidFill>
                <a:latin typeface="Noto Sans"/>
              </a:defRPr>
            </a:pPr>
            <a:r>
              <a:t>to purchase</a:t>
            </a:r>
          </a:p>
        </p:txBody>
      </p:sp>
      <p:sp>
        <p:nvSpPr>
          <p:cNvPr id="16" name="Rounded Rectangle 15"/>
          <p:cNvSpPr/>
          <p:nvPr/>
        </p:nvSpPr>
        <p:spPr>
          <a:xfrm>
            <a:off x="8153399" y="2247900"/>
            <a:ext cx="3581400" cy="1905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3399" y="2247900"/>
            <a:ext cx="38100" cy="19050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3900" y="24460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RECEIVED</a:t>
            </a:r>
          </a:p>
        </p:txBody>
      </p:sp>
      <p:sp>
        <p:nvSpPr>
          <p:cNvPr id="19" name="TextBox 18"/>
          <p:cNvSpPr txBox="1"/>
          <p:nvPr/>
        </p:nvSpPr>
        <p:spPr>
          <a:xfrm>
            <a:off x="8343900" y="286512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Atomic receipts</a:t>
            </a:r>
          </a:p>
          <a:p>
            <a:pPr>
              <a:lnSpc>
                <a:spcPct val="130000"/>
              </a:lnSpc>
              <a:spcBef>
                <a:spcPts val="0"/>
              </a:spcBef>
              <a:spcAft>
                <a:spcPts val="0"/>
              </a:spcAft>
              <a:defRPr sz="1439" b="0">
                <a:solidFill>
                  <a:srgbClr val="A9BAC4"/>
                </a:solidFill>
                <a:latin typeface="Noto Sans"/>
              </a:defRPr>
            </a:pPr>
            <a:r>
              <a:t>for every order line</a:t>
            </a:r>
          </a:p>
        </p:txBody>
      </p:sp>
      <p:cxnSp>
        <p:nvCxnSpPr>
          <p:cNvPr id="20" name="Connector 19"/>
          <p:cNvCxnSpPr/>
          <p:nvPr/>
        </p:nvCxnSpPr>
        <p:spPr>
          <a:xfrm>
            <a:off x="4076699" y="3162300"/>
            <a:ext cx="152401" cy="0"/>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4125160" y="3162300"/>
            <a:ext cx="103940" cy="63726"/>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125160" y="3098573"/>
            <a:ext cx="103940" cy="63727"/>
          </a:xfrm>
          <a:prstGeom prst="line">
            <a:avLst/>
          </a:prstGeom>
          <a:ln w="30480">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24799" y="3162300"/>
            <a:ext cx="152401" cy="0"/>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7973260" y="3162300"/>
            <a:ext cx="103940" cy="63726"/>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7973260" y="3098573"/>
            <a:ext cx="103940" cy="63727"/>
          </a:xfrm>
          <a:prstGeom prst="line">
            <a:avLst/>
          </a:prstGeom>
          <a:ln w="30480">
            <a:solidFill>
              <a:srgbClr val="91BDF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200" y="4549140"/>
            <a:ext cx="11277600" cy="10134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39640"/>
            <a:ext cx="1584960" cy="297180"/>
          </a:xfrm>
          <a:prstGeom prst="rect">
            <a:avLst/>
          </a:prstGeom>
          <a:noFill/>
        </p:spPr>
        <p:txBody>
          <a:bodyPr wrap="none" lIns="0" rIns="0" tIns="0" bIns="0">
            <a:spAutoFit/>
          </a:bodyPr>
          <a:lstStyle/>
          <a:p>
            <a:pPr>
              <a:lnSpc>
                <a:spcPct val="130000"/>
              </a:lnSpc>
              <a:spcBef>
                <a:spcPts val="0"/>
              </a:spcBef>
              <a:spcAft>
                <a:spcPts val="0"/>
              </a:spcAft>
              <a:defRPr sz="1260" b="1">
                <a:solidFill>
                  <a:srgbClr val="FFAE79"/>
                </a:solidFill>
                <a:latin typeface="Noto Sans"/>
              </a:defRPr>
            </a:pPr>
            <a:r>
              <a:t>GUARDS</a:t>
            </a:r>
          </a:p>
        </p:txBody>
      </p:sp>
      <p:sp>
        <p:nvSpPr>
          <p:cNvPr id="28" name="TextBox 27"/>
          <p:cNvSpPr txBox="1"/>
          <p:nvPr/>
        </p:nvSpPr>
        <p:spPr>
          <a:xfrm>
            <a:off x="2209800" y="4732020"/>
            <a:ext cx="9204960" cy="609600"/>
          </a:xfrm>
          <a:prstGeom prst="rect">
            <a:avLst/>
          </a:prstGeom>
          <a:noFill/>
        </p:spPr>
        <p:txBody>
          <a:bodyPr wrap="none" lIns="0" rIns="0" tIns="0" bIns="0">
            <a:spAutoFit/>
          </a:bodyPr>
          <a:lstStyle/>
          <a:p>
            <a:pPr>
              <a:lnSpc>
                <a:spcPct val="130000"/>
              </a:lnSpc>
              <a:spcBef>
                <a:spcPts val="0"/>
              </a:spcBef>
              <a:spcAft>
                <a:spcPts val="0"/>
              </a:spcAft>
              <a:defRPr sz="1560" b="0">
                <a:solidFill>
                  <a:srgbClr val="F4F2EB"/>
                </a:solidFill>
                <a:latin typeface="Noto Sans"/>
              </a:defRPr>
            </a:pPr>
            <a:r>
              <a:t>Supplier consistency · positive line quantities · valid transitions</a:t>
            </a:r>
          </a:p>
          <a:p>
            <a:pPr>
              <a:lnSpc>
                <a:spcPct val="130000"/>
              </a:lnSpc>
              <a:spcBef>
                <a:spcPts val="0"/>
              </a:spcBef>
              <a:spcAft>
                <a:spcPts val="0"/>
              </a:spcAft>
              <a:defRPr sz="1560" b="0">
                <a:solidFill>
                  <a:srgbClr val="F4F2EB"/>
                </a:solidFill>
                <a:latin typeface="Noto Sans"/>
              </a:defRPr>
            </a:pPr>
            <a:r>
              <a:t>Idempotent receiving · no edits after the draft stage</a:t>
            </a:r>
          </a:p>
        </p:txBody>
      </p:sp>
      <p:sp>
        <p:nvSpPr>
          <p:cNvPr id="29" name="TextBox 28"/>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Draft and ordered purchases may be cancelled. Full-order receiving is supported; partial receipt is future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ASYNCHRONOUS PROCESSING</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Background work must not own the stock ledger.</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10 / 18</a:t>
            </a:r>
          </a:p>
        </p:txBody>
      </p:sp>
      <p:sp>
        <p:nvSpPr>
          <p:cNvPr id="8" name="Rounded Rectangle 7"/>
          <p:cNvSpPr/>
          <p:nvPr/>
        </p:nvSpPr>
        <p:spPr>
          <a:xfrm>
            <a:off x="457200" y="1943100"/>
            <a:ext cx="3581400" cy="1981199"/>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1981199"/>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01 / REQUEST</a:t>
            </a:r>
          </a:p>
        </p:txBody>
      </p:sp>
      <p:sp>
        <p:nvSpPr>
          <p:cNvPr id="11" name="TextBox 10"/>
          <p:cNvSpPr txBox="1"/>
          <p:nvPr/>
        </p:nvSpPr>
        <p:spPr>
          <a:xfrm>
            <a:off x="6477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TRIGGER</a:t>
            </a:r>
          </a:p>
        </p:txBody>
      </p:sp>
      <p:sp>
        <p:nvSpPr>
          <p:cNvPr id="12" name="TextBox 11"/>
          <p:cNvSpPr txBox="1"/>
          <p:nvPr/>
        </p:nvSpPr>
        <p:spPr>
          <a:xfrm>
            <a:off x="647700" y="288036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POST /api/reports</a:t>
            </a:r>
          </a:p>
          <a:p>
            <a:pPr>
              <a:lnSpc>
                <a:spcPct val="130000"/>
              </a:lnSpc>
              <a:spcBef>
                <a:spcPts val="0"/>
              </a:spcBef>
              <a:spcAft>
                <a:spcPts val="0"/>
              </a:spcAft>
              <a:defRPr sz="1439" b="0">
                <a:solidFill>
                  <a:srgbClr val="A9BAC4"/>
                </a:solidFill>
                <a:latin typeface="Noto Sans"/>
              </a:defRPr>
            </a:pPr>
            <a:r>
              <a:t>A scheduled beat every 60 seconds</a:t>
            </a:r>
          </a:p>
        </p:txBody>
      </p:sp>
      <p:sp>
        <p:nvSpPr>
          <p:cNvPr id="13" name="Rounded Rectangle 12"/>
          <p:cNvSpPr/>
          <p:nvPr/>
        </p:nvSpPr>
        <p:spPr>
          <a:xfrm>
            <a:off x="4305300" y="1943100"/>
            <a:ext cx="3581400" cy="1981199"/>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5300" y="1943100"/>
            <a:ext cx="38100" cy="1981199"/>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91BDF0"/>
                </a:solidFill>
                <a:latin typeface="Noto Sans"/>
              </a:defRPr>
            </a:pPr>
            <a:r>
              <a:t>02 / PROCESS</a:t>
            </a:r>
          </a:p>
        </p:txBody>
      </p:sp>
      <p:sp>
        <p:nvSpPr>
          <p:cNvPr id="16" name="TextBox 15"/>
          <p:cNvSpPr txBox="1"/>
          <p:nvPr/>
        </p:nvSpPr>
        <p:spPr>
          <a:xfrm>
            <a:off x="44958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COMPUTE</a:t>
            </a:r>
          </a:p>
        </p:txBody>
      </p:sp>
      <p:sp>
        <p:nvSpPr>
          <p:cNvPr id="17" name="TextBox 16"/>
          <p:cNvSpPr txBox="1"/>
          <p:nvPr/>
        </p:nvSpPr>
        <p:spPr>
          <a:xfrm>
            <a:off x="4495800" y="288036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Celery worker reads the current</a:t>
            </a:r>
          </a:p>
          <a:p>
            <a:pPr>
              <a:lnSpc>
                <a:spcPct val="130000"/>
              </a:lnSpc>
              <a:spcBef>
                <a:spcPts val="0"/>
              </a:spcBef>
              <a:spcAft>
                <a:spcPts val="0"/>
              </a:spcAft>
              <a:defRPr sz="1439" b="0">
                <a:solidFill>
                  <a:srgbClr val="A9BAC4"/>
                </a:solidFill>
                <a:latin typeface="Noto Sans"/>
              </a:defRPr>
            </a:pPr>
            <a:r>
              <a:t>database snapshot</a:t>
            </a:r>
          </a:p>
        </p:txBody>
      </p:sp>
      <p:sp>
        <p:nvSpPr>
          <p:cNvPr id="18" name="Rounded Rectangle 17"/>
          <p:cNvSpPr/>
          <p:nvPr/>
        </p:nvSpPr>
        <p:spPr>
          <a:xfrm>
            <a:off x="8153399" y="1943100"/>
            <a:ext cx="3581400" cy="1981199"/>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3399" y="1943100"/>
            <a:ext cx="38100" cy="1981199"/>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2141220"/>
            <a:ext cx="32613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FFAE79"/>
                </a:solidFill>
                <a:latin typeface="Noto Sans"/>
              </a:defRPr>
            </a:pPr>
            <a:r>
              <a:t>03 / SERVE</a:t>
            </a:r>
          </a:p>
        </p:txBody>
      </p:sp>
      <p:sp>
        <p:nvSpPr>
          <p:cNvPr id="21" name="TextBox 20"/>
          <p:cNvSpPr txBox="1"/>
          <p:nvPr/>
        </p:nvSpPr>
        <p:spPr>
          <a:xfrm>
            <a:off x="8343900" y="246126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CACHE</a:t>
            </a:r>
          </a:p>
        </p:txBody>
      </p:sp>
      <p:sp>
        <p:nvSpPr>
          <p:cNvPr id="22" name="TextBox 21"/>
          <p:cNvSpPr txBox="1"/>
          <p:nvPr/>
        </p:nvSpPr>
        <p:spPr>
          <a:xfrm>
            <a:off x="8343900" y="2880360"/>
            <a:ext cx="32613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Redis report + generated_at</a:t>
            </a:r>
          </a:p>
          <a:p>
            <a:pPr>
              <a:lnSpc>
                <a:spcPct val="130000"/>
              </a:lnSpc>
              <a:spcBef>
                <a:spcPts val="0"/>
              </a:spcBef>
              <a:spcAft>
                <a:spcPts val="0"/>
              </a:spcAft>
              <a:defRPr sz="1439" b="0">
                <a:solidFill>
                  <a:srgbClr val="A9BAC4"/>
                </a:solidFill>
                <a:latin typeface="Noto Sans"/>
              </a:defRPr>
            </a:pPr>
            <a:r>
              <a:t>180-second cache expiry</a:t>
            </a:r>
          </a:p>
        </p:txBody>
      </p:sp>
      <p:sp>
        <p:nvSpPr>
          <p:cNvPr id="23" name="Rounded Rectangle 22"/>
          <p:cNvSpPr/>
          <p:nvPr/>
        </p:nvSpPr>
        <p:spPr>
          <a:xfrm>
            <a:off x="457200" y="4343400"/>
            <a:ext cx="11277600" cy="114300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56760"/>
            <a:ext cx="10728960" cy="396240"/>
          </a:xfrm>
          <a:prstGeom prst="rect">
            <a:avLst/>
          </a:prstGeom>
          <a:noFill/>
        </p:spPr>
        <p:txBody>
          <a:bodyPr wrap="none" lIns="0" rIns="0" tIns="0" bIns="0">
            <a:spAutoFit/>
          </a:bodyPr>
          <a:lstStyle/>
          <a:p>
            <a:pPr>
              <a:lnSpc>
                <a:spcPct val="130000"/>
              </a:lnSpc>
              <a:spcBef>
                <a:spcPts val="0"/>
              </a:spcBef>
              <a:spcAft>
                <a:spcPts val="0"/>
              </a:spcAft>
              <a:defRPr sz="1859" b="1">
                <a:solidFill>
                  <a:srgbClr val="76E0BD"/>
                </a:solidFill>
                <a:latin typeface="Noto Sans"/>
              </a:defRPr>
            </a:pPr>
            <a:r>
              <a:t>Graceful degradation</a:t>
            </a:r>
          </a:p>
        </p:txBody>
      </p:sp>
      <p:sp>
        <p:nvSpPr>
          <p:cNvPr id="25" name="TextBox 24"/>
          <p:cNvSpPr txBox="1"/>
          <p:nvPr/>
        </p:nvSpPr>
        <p:spPr>
          <a:xfrm>
            <a:off x="685800" y="4953000"/>
            <a:ext cx="10728960" cy="350520"/>
          </a:xfrm>
          <a:prstGeom prst="rect">
            <a:avLst/>
          </a:prstGeom>
          <a:noFill/>
        </p:spPr>
        <p:txBody>
          <a:bodyPr wrap="none" lIns="0" rIns="0" tIns="0" bIns="0">
            <a:spAutoFit/>
          </a:bodyPr>
          <a:lstStyle/>
          <a:p>
            <a:pPr>
              <a:lnSpc>
                <a:spcPct val="130000"/>
              </a:lnSpc>
              <a:spcBef>
                <a:spcPts val="0"/>
              </a:spcBef>
              <a:spcAft>
                <a:spcPts val="0"/>
              </a:spcAft>
              <a:defRPr sz="1560" b="0">
                <a:solidFill>
                  <a:srgbClr val="F4F2EB"/>
                </a:solidFill>
                <a:latin typeface="Noto Sans"/>
              </a:defRPr>
            </a:pPr>
            <a:r>
              <a:t>Report cache unavailable → explicit report error. Live dashboard → database-backed request.</a:t>
            </a:r>
          </a:p>
        </p:txBody>
      </p:sp>
      <p:sp>
        <p:nvSpPr>
          <p:cNvPr id="26" name="TextBox 25"/>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Redis/Celery execution requires a runnable service environment; configuration alone is not a worker execution result.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CONCURRENCY AND RESILIENCE</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Scale the API while protecting correctness.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11 / 18</a:t>
            </a:r>
          </a:p>
        </p:txBody>
      </p:sp>
      <p:sp>
        <p:nvSpPr>
          <p:cNvPr id="8" name="Rounded Rectangle 7"/>
          <p:cNvSpPr/>
          <p:nvPr/>
        </p:nvSpPr>
        <p:spPr>
          <a:xfrm>
            <a:off x="457200" y="19431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16383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Database coordination</a:t>
            </a:r>
          </a:p>
        </p:txBody>
      </p:sp>
      <p:sp>
        <p:nvSpPr>
          <p:cNvPr id="11" name="TextBox 10"/>
          <p:cNvSpPr txBox="1"/>
          <p:nvPr/>
        </p:nvSpPr>
        <p:spPr>
          <a:xfrm>
            <a:off x="647700" y="25603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PostgreSQL row locks serialize competing product</a:t>
            </a:r>
          </a:p>
          <a:p>
            <a:pPr>
              <a:lnSpc>
                <a:spcPct val="130000"/>
              </a:lnSpc>
              <a:spcBef>
                <a:spcPts val="0"/>
              </a:spcBef>
              <a:spcAft>
                <a:spcPts val="0"/>
              </a:spcAft>
              <a:defRPr sz="1439" b="0">
                <a:solidFill>
                  <a:srgbClr val="A9BAC4"/>
                </a:solidFill>
                <a:latin typeface="Noto Sans"/>
              </a:defRPr>
            </a:pPr>
            <a:r>
              <a:t>changes. Stable lock ordering reduces deadlock risk.</a:t>
            </a:r>
          </a:p>
        </p:txBody>
      </p:sp>
      <p:sp>
        <p:nvSpPr>
          <p:cNvPr id="12" name="Rounded Rectangle 11"/>
          <p:cNvSpPr/>
          <p:nvPr/>
        </p:nvSpPr>
        <p:spPr>
          <a:xfrm>
            <a:off x="6324600" y="19431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600" y="1943100"/>
            <a:ext cx="38100" cy="16383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51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Retry-aware writes</a:t>
            </a:r>
          </a:p>
        </p:txBody>
      </p:sp>
      <p:sp>
        <p:nvSpPr>
          <p:cNvPr id="15" name="TextBox 14"/>
          <p:cNvSpPr txBox="1"/>
          <p:nvPr/>
        </p:nvSpPr>
        <p:spPr>
          <a:xfrm>
            <a:off x="6515100" y="25603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Request fingerprints distinguish an identical retry from a</a:t>
            </a:r>
          </a:p>
          <a:p>
            <a:pPr>
              <a:lnSpc>
                <a:spcPct val="130000"/>
              </a:lnSpc>
              <a:spcBef>
                <a:spcPts val="0"/>
              </a:spcBef>
              <a:spcAft>
                <a:spcPts val="0"/>
              </a:spcAft>
              <a:defRPr sz="1439" b="0">
                <a:solidFill>
                  <a:srgbClr val="A9BAC4"/>
                </a:solidFill>
                <a:latin typeface="Noto Sans"/>
              </a:defRPr>
            </a:pPr>
            <a:r>
              <a:t>conflicting reuse of an idempotency key.</a:t>
            </a:r>
          </a:p>
        </p:txBody>
      </p:sp>
      <p:sp>
        <p:nvSpPr>
          <p:cNvPr id="16" name="Rounded Rectangle 15"/>
          <p:cNvSpPr/>
          <p:nvPr/>
        </p:nvSpPr>
        <p:spPr>
          <a:xfrm>
            <a:off x="457200" y="38862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86200"/>
            <a:ext cx="38100" cy="16383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700" y="40843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Independent replicas</a:t>
            </a:r>
          </a:p>
        </p:txBody>
      </p:sp>
      <p:sp>
        <p:nvSpPr>
          <p:cNvPr id="19" name="TextBox 18"/>
          <p:cNvSpPr txBox="1"/>
          <p:nvPr/>
        </p:nvSpPr>
        <p:spPr>
          <a:xfrm>
            <a:off x="647700" y="4503420"/>
            <a:ext cx="50901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API and frontend replicas can scale separately from</a:t>
            </a:r>
          </a:p>
          <a:p>
            <a:pPr>
              <a:lnSpc>
                <a:spcPct val="130000"/>
              </a:lnSpc>
              <a:spcBef>
                <a:spcPts val="0"/>
              </a:spcBef>
              <a:spcAft>
                <a:spcPts val="0"/>
              </a:spcAft>
              <a:defRPr sz="1439" b="0">
                <a:solidFill>
                  <a:srgbClr val="A9BAC4"/>
                </a:solidFill>
                <a:latin typeface="Noto Sans"/>
              </a:defRPr>
            </a:pPr>
            <a:r>
              <a:t>workers. Shared durable state stays in PostgreSQL.</a:t>
            </a:r>
          </a:p>
        </p:txBody>
      </p:sp>
      <p:sp>
        <p:nvSpPr>
          <p:cNvPr id="20" name="Rounded Rectangle 19"/>
          <p:cNvSpPr/>
          <p:nvPr/>
        </p:nvSpPr>
        <p:spPr>
          <a:xfrm>
            <a:off x="6324600" y="3886200"/>
            <a:ext cx="5410200" cy="16383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24600" y="3886200"/>
            <a:ext cx="38100" cy="16383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5100" y="40843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Honest capacity boundary</a:t>
            </a:r>
          </a:p>
        </p:txBody>
      </p:sp>
      <p:sp>
        <p:nvSpPr>
          <p:cNvPr id="23" name="TextBox 22"/>
          <p:cNvSpPr txBox="1"/>
          <p:nvPr/>
        </p:nvSpPr>
        <p:spPr>
          <a:xfrm>
            <a:off x="6515100" y="4503420"/>
            <a:ext cx="5090160" cy="80010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SQLite tests exercise rules, not PostgreSQL locking</a:t>
            </a:r>
          </a:p>
          <a:p>
            <a:pPr>
              <a:lnSpc>
                <a:spcPct val="130000"/>
              </a:lnSpc>
              <a:spcBef>
                <a:spcPts val="0"/>
              </a:spcBef>
              <a:spcAft>
                <a:spcPts val="0"/>
              </a:spcAft>
              <a:defRPr sz="1439" b="0">
                <a:solidFill>
                  <a:srgbClr val="A9BAC4"/>
                </a:solidFill>
                <a:latin typeface="Noto Sans"/>
              </a:defRPr>
            </a:pPr>
            <a:r>
              <a:t>semantics. Load and concurrent database testing remain</a:t>
            </a:r>
          </a:p>
          <a:p>
            <a:pPr>
              <a:lnSpc>
                <a:spcPct val="130000"/>
              </a:lnSpc>
              <a:spcBef>
                <a:spcPts val="0"/>
              </a:spcBef>
              <a:spcAft>
                <a:spcPts val="0"/>
              </a:spcAft>
              <a:defRPr sz="1439" b="0">
                <a:solidFill>
                  <a:srgbClr val="A9BAC4"/>
                </a:solidFill>
                <a:latin typeface="Noto Sans"/>
              </a:defRPr>
            </a:pPr>
            <a:r>
              <a:t>required.</a:t>
            </a:r>
          </a:p>
        </p:txBody>
      </p:sp>
      <p:sp>
        <p:nvSpPr>
          <p:cNvPr id="24" name="TextBox 23"/>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Multiple replicas are an infrastructure configuration; production scalability requires measured capacity and failure tests.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CONTINUOUS INTEGRATION AND DELIVERY</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Turn a source change into a gated release.</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12 / 18</a:t>
            </a:r>
          </a:p>
        </p:txBody>
      </p:sp>
      <p:sp>
        <p:nvSpPr>
          <p:cNvPr id="8" name="Rounded Rectangle 7"/>
          <p:cNvSpPr/>
          <p:nvPr/>
        </p:nvSpPr>
        <p:spPr>
          <a:xfrm>
            <a:off x="457200" y="2286000"/>
            <a:ext cx="2133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286000"/>
            <a:ext cx="38100" cy="18288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484120"/>
            <a:ext cx="18135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01</a:t>
            </a:r>
          </a:p>
        </p:txBody>
      </p:sp>
      <p:sp>
        <p:nvSpPr>
          <p:cNvPr id="11" name="TextBox 10"/>
          <p:cNvSpPr txBox="1"/>
          <p:nvPr/>
        </p:nvSpPr>
        <p:spPr>
          <a:xfrm>
            <a:off x="647700" y="2804160"/>
            <a:ext cx="1813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SOURCE</a:t>
            </a:r>
          </a:p>
        </p:txBody>
      </p:sp>
      <p:sp>
        <p:nvSpPr>
          <p:cNvPr id="12" name="TextBox 11"/>
          <p:cNvSpPr txBox="1"/>
          <p:nvPr/>
        </p:nvSpPr>
        <p:spPr>
          <a:xfrm>
            <a:off x="647700" y="3223260"/>
            <a:ext cx="18135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Lint + unit tests</a:t>
            </a:r>
          </a:p>
        </p:txBody>
      </p:sp>
      <p:cxnSp>
        <p:nvCxnSpPr>
          <p:cNvPr id="13" name="Connector 12"/>
          <p:cNvCxnSpPr/>
          <p:nvPr/>
        </p:nvCxnSpPr>
        <p:spPr>
          <a:xfrm>
            <a:off x="2606040" y="3200400"/>
            <a:ext cx="106680" cy="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608780" y="3200400"/>
            <a:ext cx="103940" cy="63726"/>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2608780" y="3136673"/>
            <a:ext cx="103940" cy="63727"/>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743200" y="2286000"/>
            <a:ext cx="2133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0" y="2286000"/>
            <a:ext cx="38100" cy="18288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3700" y="2484120"/>
            <a:ext cx="18135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91BDF0"/>
                </a:solidFill>
                <a:latin typeface="Noto Sans"/>
              </a:defRPr>
            </a:pPr>
            <a:r>
              <a:t>02</a:t>
            </a:r>
          </a:p>
        </p:txBody>
      </p:sp>
      <p:sp>
        <p:nvSpPr>
          <p:cNvPr id="19" name="TextBox 18"/>
          <p:cNvSpPr txBox="1"/>
          <p:nvPr/>
        </p:nvSpPr>
        <p:spPr>
          <a:xfrm>
            <a:off x="2933700" y="2804160"/>
            <a:ext cx="1813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SECURITY</a:t>
            </a:r>
          </a:p>
        </p:txBody>
      </p:sp>
      <p:sp>
        <p:nvSpPr>
          <p:cNvPr id="20" name="TextBox 19"/>
          <p:cNvSpPr txBox="1"/>
          <p:nvPr/>
        </p:nvSpPr>
        <p:spPr>
          <a:xfrm>
            <a:off x="2933700" y="3223260"/>
            <a:ext cx="1813560" cy="56388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SAST +</a:t>
            </a:r>
          </a:p>
          <a:p>
            <a:pPr>
              <a:lnSpc>
                <a:spcPct val="130000"/>
              </a:lnSpc>
              <a:spcBef>
                <a:spcPts val="0"/>
              </a:spcBef>
              <a:spcAft>
                <a:spcPts val="0"/>
              </a:spcAft>
              <a:defRPr sz="1439" b="0">
                <a:solidFill>
                  <a:srgbClr val="A9BAC4"/>
                </a:solidFill>
                <a:latin typeface="Noto Sans"/>
              </a:defRPr>
            </a:pPr>
            <a:r>
              <a:t>dependencies</a:t>
            </a:r>
          </a:p>
        </p:txBody>
      </p:sp>
      <p:cxnSp>
        <p:nvCxnSpPr>
          <p:cNvPr id="21" name="Connector 20"/>
          <p:cNvCxnSpPr/>
          <p:nvPr/>
        </p:nvCxnSpPr>
        <p:spPr>
          <a:xfrm>
            <a:off x="4892040" y="3200400"/>
            <a:ext cx="106680" cy="0"/>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894780" y="3200400"/>
            <a:ext cx="103940" cy="63726"/>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894780" y="3136673"/>
            <a:ext cx="103940" cy="63727"/>
          </a:xfrm>
          <a:prstGeom prst="line">
            <a:avLst/>
          </a:prstGeom>
          <a:ln w="22859">
            <a:solidFill>
              <a:srgbClr val="91BDF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029200" y="2286000"/>
            <a:ext cx="2133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0" y="2286000"/>
            <a:ext cx="38100" cy="18288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9700" y="2484120"/>
            <a:ext cx="18135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FFAE79"/>
                </a:solidFill>
                <a:latin typeface="Noto Sans"/>
              </a:defRPr>
            </a:pPr>
            <a:r>
              <a:t>03</a:t>
            </a:r>
          </a:p>
        </p:txBody>
      </p:sp>
      <p:sp>
        <p:nvSpPr>
          <p:cNvPr id="27" name="TextBox 26"/>
          <p:cNvSpPr txBox="1"/>
          <p:nvPr/>
        </p:nvSpPr>
        <p:spPr>
          <a:xfrm>
            <a:off x="5219700" y="2804160"/>
            <a:ext cx="1813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IMAGES</a:t>
            </a:r>
          </a:p>
        </p:txBody>
      </p:sp>
      <p:sp>
        <p:nvSpPr>
          <p:cNvPr id="28" name="TextBox 27"/>
          <p:cNvSpPr txBox="1"/>
          <p:nvPr/>
        </p:nvSpPr>
        <p:spPr>
          <a:xfrm>
            <a:off x="5219700" y="3223260"/>
            <a:ext cx="18135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Build + image scan</a:t>
            </a:r>
          </a:p>
        </p:txBody>
      </p:sp>
      <p:cxnSp>
        <p:nvCxnSpPr>
          <p:cNvPr id="29" name="Connector 28"/>
          <p:cNvCxnSpPr/>
          <p:nvPr/>
        </p:nvCxnSpPr>
        <p:spPr>
          <a:xfrm>
            <a:off x="7178040" y="3200400"/>
            <a:ext cx="106680" cy="0"/>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180780" y="3200400"/>
            <a:ext cx="103940" cy="63726"/>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180780" y="3136673"/>
            <a:ext cx="103940" cy="63727"/>
          </a:xfrm>
          <a:prstGeom prst="line">
            <a:avLst/>
          </a:prstGeom>
          <a:ln w="22859">
            <a:solidFill>
              <a:srgbClr val="FFAE79"/>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315200" y="2286000"/>
            <a:ext cx="2133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15200" y="2286000"/>
            <a:ext cx="38100" cy="18288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05700" y="2484120"/>
            <a:ext cx="18135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04</a:t>
            </a:r>
          </a:p>
        </p:txBody>
      </p:sp>
      <p:sp>
        <p:nvSpPr>
          <p:cNvPr id="35" name="TextBox 34"/>
          <p:cNvSpPr txBox="1"/>
          <p:nvPr/>
        </p:nvSpPr>
        <p:spPr>
          <a:xfrm>
            <a:off x="7505700" y="2804160"/>
            <a:ext cx="1813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DEPLOY</a:t>
            </a:r>
          </a:p>
        </p:txBody>
      </p:sp>
      <p:sp>
        <p:nvSpPr>
          <p:cNvPr id="36" name="TextBox 35"/>
          <p:cNvSpPr txBox="1"/>
          <p:nvPr/>
        </p:nvSpPr>
        <p:spPr>
          <a:xfrm>
            <a:off x="7505700" y="3223260"/>
            <a:ext cx="18135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kind + Helm smoke</a:t>
            </a:r>
          </a:p>
        </p:txBody>
      </p:sp>
      <p:cxnSp>
        <p:nvCxnSpPr>
          <p:cNvPr id="37" name="Connector 36"/>
          <p:cNvCxnSpPr/>
          <p:nvPr/>
        </p:nvCxnSpPr>
        <p:spPr>
          <a:xfrm>
            <a:off x="9464040" y="3200400"/>
            <a:ext cx="106680" cy="0"/>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9466780" y="3200400"/>
            <a:ext cx="103940" cy="63726"/>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9466780" y="3136673"/>
            <a:ext cx="103940" cy="63727"/>
          </a:xfrm>
          <a:prstGeom prst="line">
            <a:avLst/>
          </a:prstGeom>
          <a:ln w="22859">
            <a:solidFill>
              <a:srgbClr val="76E0BD"/>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601200" y="2286000"/>
            <a:ext cx="2133600" cy="18288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601200" y="2286000"/>
            <a:ext cx="38100" cy="18288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91700" y="2484120"/>
            <a:ext cx="18135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91BDF0"/>
                </a:solidFill>
                <a:latin typeface="Noto Sans"/>
              </a:defRPr>
            </a:pPr>
            <a:r>
              <a:t>05</a:t>
            </a:r>
          </a:p>
        </p:txBody>
      </p:sp>
      <p:sp>
        <p:nvSpPr>
          <p:cNvPr id="43" name="TextBox 42"/>
          <p:cNvSpPr txBox="1"/>
          <p:nvPr/>
        </p:nvSpPr>
        <p:spPr>
          <a:xfrm>
            <a:off x="9791700" y="2804160"/>
            <a:ext cx="18135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PROMOTE</a:t>
            </a:r>
          </a:p>
        </p:txBody>
      </p:sp>
      <p:sp>
        <p:nvSpPr>
          <p:cNvPr id="44" name="TextBox 43"/>
          <p:cNvSpPr txBox="1"/>
          <p:nvPr/>
        </p:nvSpPr>
        <p:spPr>
          <a:xfrm>
            <a:off x="9791700" y="3223260"/>
            <a:ext cx="1813560" cy="32766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GitOps image tag</a:t>
            </a:r>
          </a:p>
        </p:txBody>
      </p:sp>
      <p:sp>
        <p:nvSpPr>
          <p:cNvPr id="45" name="Rounded Rectangle 44"/>
          <p:cNvSpPr/>
          <p:nvPr/>
        </p:nvSpPr>
        <p:spPr>
          <a:xfrm>
            <a:off x="457200" y="4541520"/>
            <a:ext cx="11277600" cy="9753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4747260"/>
            <a:ext cx="2346960" cy="297180"/>
          </a:xfrm>
          <a:prstGeom prst="rect">
            <a:avLst/>
          </a:prstGeom>
          <a:noFill/>
        </p:spPr>
        <p:txBody>
          <a:bodyPr wrap="none" lIns="0" rIns="0" tIns="0" bIns="0">
            <a:spAutoFit/>
          </a:bodyPr>
          <a:lstStyle/>
          <a:p>
            <a:pPr>
              <a:lnSpc>
                <a:spcPct val="130000"/>
              </a:lnSpc>
              <a:spcBef>
                <a:spcPts val="0"/>
              </a:spcBef>
              <a:spcAft>
                <a:spcPts val="0"/>
              </a:spcAft>
              <a:defRPr sz="1260" b="1">
                <a:solidFill>
                  <a:srgbClr val="FFAE79"/>
                </a:solidFill>
                <a:latin typeface="Noto Sans"/>
              </a:defRPr>
            </a:pPr>
            <a:r>
              <a:t>TRACEABILITY</a:t>
            </a:r>
          </a:p>
        </p:txBody>
      </p:sp>
      <p:sp>
        <p:nvSpPr>
          <p:cNvPr id="47" name="TextBox 46"/>
          <p:cNvSpPr txBox="1"/>
          <p:nvPr/>
        </p:nvSpPr>
        <p:spPr>
          <a:xfrm>
            <a:off x="2956560" y="4709160"/>
            <a:ext cx="8442960" cy="358140"/>
          </a:xfrm>
          <a:prstGeom prst="rect">
            <a:avLst/>
          </a:prstGeom>
          <a:noFill/>
        </p:spPr>
        <p:txBody>
          <a:bodyPr wrap="none" lIns="0" rIns="0" tIns="0" bIns="0">
            <a:spAutoFit/>
          </a:bodyPr>
          <a:lstStyle/>
          <a:p>
            <a:pPr>
              <a:lnSpc>
                <a:spcPct val="130000"/>
              </a:lnSpc>
              <a:spcBef>
                <a:spcPts val="0"/>
              </a:spcBef>
              <a:spcAft>
                <a:spcPts val="0"/>
              </a:spcAft>
              <a:defRPr sz="1620" b="1">
                <a:solidFill>
                  <a:srgbClr val="F4F2EB"/>
                </a:solidFill>
                <a:latin typeface="Noto Sans"/>
              </a:defRPr>
            </a:pPr>
            <a:r>
              <a:t>Commit SHA → container image → Helm value → deployed revision</a:t>
            </a:r>
          </a:p>
        </p:txBody>
      </p:sp>
      <p:sp>
        <p:nvSpPr>
          <p:cNvPr id="48" name="TextBox 47"/>
          <p:cNvSpPr txBox="1"/>
          <p:nvPr/>
        </p:nvSpPr>
        <p:spPr>
          <a:xfrm>
            <a:off x="2956560" y="5036820"/>
            <a:ext cx="8442960" cy="320040"/>
          </a:xfrm>
          <a:prstGeom prst="rect">
            <a:avLst/>
          </a:prstGeom>
          <a:noFill/>
        </p:spPr>
        <p:txBody>
          <a:bodyPr wrap="none" lIns="0" rIns="0" tIns="0" bIns="0">
            <a:spAutoFit/>
          </a:bodyPr>
          <a:lstStyle/>
          <a:p>
            <a:pPr>
              <a:lnSpc>
                <a:spcPct val="130000"/>
              </a:lnSpc>
              <a:spcBef>
                <a:spcPts val="0"/>
              </a:spcBef>
              <a:spcAft>
                <a:spcPts val="0"/>
              </a:spcAft>
              <a:defRPr sz="1380" b="0">
                <a:solidFill>
                  <a:srgbClr val="A9BAC4"/>
                </a:solidFill>
                <a:latin typeface="Noto Sans"/>
              </a:defRPr>
            </a:pPr>
            <a:r>
              <a:t>A workflow file is not a successful GitHub Actions run.</a:t>
            </a:r>
          </a:p>
        </p:txBody>
      </p:sp>
      <p:sp>
        <p:nvSpPr>
          <p:cNvPr id="49" name="TextBox 48"/>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CI definitions are reviewable locally. Hosted execution and GHCR publication require repository/network access.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RUNTIME PLATFORM</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Kubernetes encodes operational expectations.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13 / 18</a:t>
            </a:r>
          </a:p>
        </p:txBody>
      </p:sp>
      <p:sp>
        <p:nvSpPr>
          <p:cNvPr id="8" name="Rounded Rectangle 7"/>
          <p:cNvSpPr/>
          <p:nvPr/>
        </p:nvSpPr>
        <p:spPr>
          <a:xfrm>
            <a:off x="457200" y="1943100"/>
            <a:ext cx="3581400" cy="28956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28956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SERVE</a:t>
            </a:r>
          </a:p>
        </p:txBody>
      </p:sp>
      <p:sp>
        <p:nvSpPr>
          <p:cNvPr id="11" name="TextBox 10"/>
          <p:cNvSpPr txBox="1"/>
          <p:nvPr/>
        </p:nvSpPr>
        <p:spPr>
          <a:xfrm>
            <a:off x="647700" y="2560320"/>
            <a:ext cx="3261360" cy="127254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Frontend + API Deployments</a:t>
            </a:r>
          </a:p>
          <a:p>
            <a:pPr>
              <a:lnSpc>
                <a:spcPct val="130000"/>
              </a:lnSpc>
              <a:spcBef>
                <a:spcPts val="0"/>
              </a:spcBef>
              <a:spcAft>
                <a:spcPts val="0"/>
              </a:spcAft>
              <a:defRPr sz="1439" b="0">
                <a:solidFill>
                  <a:srgbClr val="A9BAC4"/>
                </a:solidFill>
                <a:latin typeface="Noto Sans"/>
              </a:defRPr>
            </a:pPr>
            <a:r>
              <a:t>ClusterIP Services + Ingress</a:t>
            </a:r>
          </a:p>
          <a:p>
            <a:pPr>
              <a:lnSpc>
                <a:spcPct val="130000"/>
              </a:lnSpc>
              <a:spcBef>
                <a:spcPts val="0"/>
              </a:spcBef>
              <a:spcAft>
                <a:spcPts val="0"/>
              </a:spcAft>
              <a:defRPr sz="1439" b="0">
                <a:solidFill>
                  <a:srgbClr val="A9BAC4"/>
                </a:solidFill>
                <a:latin typeface="Noto Sans"/>
              </a:defRPr>
            </a:pPr>
            <a:r>
              <a:t>Startup, readiness and liveness</a:t>
            </a:r>
          </a:p>
          <a:p>
            <a:pPr>
              <a:lnSpc>
                <a:spcPct val="130000"/>
              </a:lnSpc>
              <a:spcBef>
                <a:spcPts val="0"/>
              </a:spcBef>
              <a:spcAft>
                <a:spcPts val="0"/>
              </a:spcAft>
              <a:defRPr sz="1439" b="0">
                <a:solidFill>
                  <a:srgbClr val="A9BAC4"/>
                </a:solidFill>
                <a:latin typeface="Noto Sans"/>
              </a:defRPr>
            </a:pPr>
            <a:r>
              <a:t>probes</a:t>
            </a:r>
          </a:p>
          <a:p>
            <a:pPr>
              <a:lnSpc>
                <a:spcPct val="130000"/>
              </a:lnSpc>
              <a:spcBef>
                <a:spcPts val="0"/>
              </a:spcBef>
              <a:spcAft>
                <a:spcPts val="0"/>
              </a:spcAft>
              <a:defRPr sz="1439" b="0">
                <a:solidFill>
                  <a:srgbClr val="A9BAC4"/>
                </a:solidFill>
                <a:latin typeface="Noto Sans"/>
              </a:defRPr>
            </a:pPr>
            <a:r>
              <a:t>HPA + disruption budgets</a:t>
            </a:r>
          </a:p>
        </p:txBody>
      </p:sp>
      <p:sp>
        <p:nvSpPr>
          <p:cNvPr id="12" name="Rounded Rectangle 11"/>
          <p:cNvSpPr/>
          <p:nvPr/>
        </p:nvSpPr>
        <p:spPr>
          <a:xfrm>
            <a:off x="4305300" y="1943100"/>
            <a:ext cx="3581400" cy="28956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5300" y="1943100"/>
            <a:ext cx="38100" cy="28956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21412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PERSIST</a:t>
            </a:r>
          </a:p>
        </p:txBody>
      </p:sp>
      <p:sp>
        <p:nvSpPr>
          <p:cNvPr id="15" name="TextBox 14"/>
          <p:cNvSpPr txBox="1"/>
          <p:nvPr/>
        </p:nvSpPr>
        <p:spPr>
          <a:xfrm>
            <a:off x="4495800" y="2560320"/>
            <a:ext cx="32613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PostgreSQL StatefulSet</a:t>
            </a:r>
          </a:p>
          <a:p>
            <a:pPr>
              <a:lnSpc>
                <a:spcPct val="130000"/>
              </a:lnSpc>
              <a:spcBef>
                <a:spcPts val="0"/>
              </a:spcBef>
              <a:spcAft>
                <a:spcPts val="0"/>
              </a:spcAft>
              <a:defRPr sz="1439" b="0">
                <a:solidFill>
                  <a:srgbClr val="A9BAC4"/>
                </a:solidFill>
                <a:latin typeface="Noto Sans"/>
              </a:defRPr>
            </a:pPr>
            <a:r>
              <a:t>Persistent volume claim</a:t>
            </a:r>
          </a:p>
          <a:p>
            <a:pPr>
              <a:lnSpc>
                <a:spcPct val="130000"/>
              </a:lnSpc>
              <a:spcBef>
                <a:spcPts val="0"/>
              </a:spcBef>
              <a:spcAft>
                <a:spcPts val="0"/>
              </a:spcAft>
              <a:defRPr sz="1439" b="0">
                <a:solidFill>
                  <a:srgbClr val="A9BAC4"/>
                </a:solidFill>
                <a:latin typeface="Noto Sans"/>
              </a:defRPr>
            </a:pPr>
            <a:r>
              <a:t>Redis for broker/cache</a:t>
            </a:r>
          </a:p>
          <a:p>
            <a:pPr>
              <a:lnSpc>
                <a:spcPct val="130000"/>
              </a:lnSpc>
              <a:spcBef>
                <a:spcPts val="0"/>
              </a:spcBef>
              <a:spcAft>
                <a:spcPts val="0"/>
              </a:spcAft>
              <a:defRPr sz="1439" b="0">
                <a:solidFill>
                  <a:srgbClr val="A9BAC4"/>
                </a:solidFill>
                <a:latin typeface="Noto Sans"/>
              </a:defRPr>
            </a:pPr>
            <a:r>
              <a:t>Migration job before rollout</a:t>
            </a:r>
          </a:p>
        </p:txBody>
      </p:sp>
      <p:sp>
        <p:nvSpPr>
          <p:cNvPr id="16" name="Rounded Rectangle 15"/>
          <p:cNvSpPr/>
          <p:nvPr/>
        </p:nvSpPr>
        <p:spPr>
          <a:xfrm>
            <a:off x="8153399" y="1943100"/>
            <a:ext cx="3581400" cy="28956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53399" y="1943100"/>
            <a:ext cx="38100" cy="2895600"/>
          </a:xfrm>
          <a:prstGeom prst="rect">
            <a:avLst/>
          </a:prstGeom>
          <a:solidFill>
            <a:srgbClr val="FFA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3900" y="2141220"/>
            <a:ext cx="32613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CONSTRAIN</a:t>
            </a:r>
          </a:p>
        </p:txBody>
      </p:sp>
      <p:sp>
        <p:nvSpPr>
          <p:cNvPr id="19" name="TextBox 18"/>
          <p:cNvSpPr txBox="1"/>
          <p:nvPr/>
        </p:nvSpPr>
        <p:spPr>
          <a:xfrm>
            <a:off x="8343900" y="2560320"/>
            <a:ext cx="32613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Non-root containers</a:t>
            </a:r>
          </a:p>
          <a:p>
            <a:pPr>
              <a:lnSpc>
                <a:spcPct val="130000"/>
              </a:lnSpc>
              <a:spcBef>
                <a:spcPts val="0"/>
              </a:spcBef>
              <a:spcAft>
                <a:spcPts val="0"/>
              </a:spcAft>
              <a:defRPr sz="1439" b="0">
                <a:solidFill>
                  <a:srgbClr val="A9BAC4"/>
                </a:solidFill>
                <a:latin typeface="Noto Sans"/>
              </a:defRPr>
            </a:pPr>
            <a:r>
              <a:t>Resource requests and limits</a:t>
            </a:r>
          </a:p>
          <a:p>
            <a:pPr>
              <a:lnSpc>
                <a:spcPct val="130000"/>
              </a:lnSpc>
              <a:spcBef>
                <a:spcPts val="0"/>
              </a:spcBef>
              <a:spcAft>
                <a:spcPts val="0"/>
              </a:spcAft>
              <a:defRPr sz="1439" b="0">
                <a:solidFill>
                  <a:srgbClr val="A9BAC4"/>
                </a:solidFill>
                <a:latin typeface="Noto Sans"/>
              </a:defRPr>
            </a:pPr>
            <a:r>
              <a:t>Network isolation policies</a:t>
            </a:r>
          </a:p>
          <a:p>
            <a:pPr>
              <a:lnSpc>
                <a:spcPct val="130000"/>
              </a:lnSpc>
              <a:spcBef>
                <a:spcPts val="0"/>
              </a:spcBef>
              <a:spcAft>
                <a:spcPts val="0"/>
              </a:spcAft>
              <a:defRPr sz="1439" b="0">
                <a:solidFill>
                  <a:srgbClr val="A9BAC4"/>
                </a:solidFill>
                <a:latin typeface="Noto Sans"/>
              </a:defRPr>
            </a:pPr>
            <a:r>
              <a:t>Configuration + external secrets</a:t>
            </a:r>
          </a:p>
        </p:txBody>
      </p:sp>
      <p:sp>
        <p:nvSpPr>
          <p:cNvPr id="20" name="TextBox 19"/>
          <p:cNvSpPr txBox="1"/>
          <p:nvPr/>
        </p:nvSpPr>
        <p:spPr>
          <a:xfrm>
            <a:off x="495299" y="5158740"/>
            <a:ext cx="111099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76E0BD"/>
                </a:solidFill>
                <a:latin typeface="Noto Sans"/>
              </a:defRPr>
            </a:pPr>
            <a:r>
              <a:t>Readiness asks: can this replica safely receive traffic now?</a:t>
            </a:r>
          </a:p>
        </p:txBody>
      </p:sp>
      <p:sp>
        <p:nvSpPr>
          <p:cNvPr id="21" name="TextBox 20"/>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A rendered chart describes intended resources. Running pods, persistence and failover need cluster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DEVSECOPS</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Security has both release and runtime boundaries.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14 / 18</a:t>
            </a:r>
          </a:p>
        </p:txBody>
      </p:sp>
      <p:sp>
        <p:nvSpPr>
          <p:cNvPr id="8" name="Rounded Rectangle 7"/>
          <p:cNvSpPr/>
          <p:nvPr/>
        </p:nvSpPr>
        <p:spPr>
          <a:xfrm>
            <a:off x="457200" y="1943100"/>
            <a:ext cx="5410200" cy="2667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26670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BEFORE RELEASE</a:t>
            </a:r>
          </a:p>
        </p:txBody>
      </p:sp>
      <p:sp>
        <p:nvSpPr>
          <p:cNvPr id="11" name="TextBox 10"/>
          <p:cNvSpPr txBox="1"/>
          <p:nvPr/>
        </p:nvSpPr>
        <p:spPr>
          <a:xfrm>
            <a:off x="647700" y="2560320"/>
            <a:ext cx="50901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Source analysis</a:t>
            </a:r>
          </a:p>
          <a:p>
            <a:pPr>
              <a:lnSpc>
                <a:spcPct val="130000"/>
              </a:lnSpc>
              <a:spcBef>
                <a:spcPts val="0"/>
              </a:spcBef>
              <a:spcAft>
                <a:spcPts val="0"/>
              </a:spcAft>
              <a:defRPr sz="1439" b="0">
                <a:solidFill>
                  <a:srgbClr val="A9BAC4"/>
                </a:solidFill>
                <a:latin typeface="Noto Sans"/>
              </a:defRPr>
            </a:pPr>
            <a:r>
              <a:t>Dependency vulnerability checks</a:t>
            </a:r>
          </a:p>
          <a:p>
            <a:pPr>
              <a:lnSpc>
                <a:spcPct val="130000"/>
              </a:lnSpc>
              <a:spcBef>
                <a:spcPts val="0"/>
              </a:spcBef>
              <a:spcAft>
                <a:spcPts val="0"/>
              </a:spcAft>
              <a:defRPr sz="1439" b="0">
                <a:solidFill>
                  <a:srgbClr val="A9BAC4"/>
                </a:solidFill>
                <a:latin typeface="Noto Sans"/>
              </a:defRPr>
            </a:pPr>
            <a:r>
              <a:t>Git history secret scanning</a:t>
            </a:r>
          </a:p>
          <a:p>
            <a:pPr>
              <a:lnSpc>
                <a:spcPct val="130000"/>
              </a:lnSpc>
              <a:spcBef>
                <a:spcPts val="0"/>
              </a:spcBef>
              <a:spcAft>
                <a:spcPts val="0"/>
              </a:spcAft>
              <a:defRPr sz="1439" b="0">
                <a:solidFill>
                  <a:srgbClr val="A9BAC4"/>
                </a:solidFill>
                <a:latin typeface="Noto Sans"/>
              </a:defRPr>
            </a:pPr>
            <a:r>
              <a:t>Container and infrastructure scans</a:t>
            </a:r>
          </a:p>
        </p:txBody>
      </p:sp>
      <p:sp>
        <p:nvSpPr>
          <p:cNvPr id="12" name="Rounded Rectangle 11"/>
          <p:cNvSpPr/>
          <p:nvPr/>
        </p:nvSpPr>
        <p:spPr>
          <a:xfrm>
            <a:off x="6324600" y="1943100"/>
            <a:ext cx="5410200" cy="2667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600" y="1943100"/>
            <a:ext cx="38100" cy="26670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51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DURING EXECUTION</a:t>
            </a:r>
          </a:p>
        </p:txBody>
      </p:sp>
      <p:sp>
        <p:nvSpPr>
          <p:cNvPr id="15" name="TextBox 14"/>
          <p:cNvSpPr txBox="1"/>
          <p:nvPr/>
        </p:nvSpPr>
        <p:spPr>
          <a:xfrm>
            <a:off x="6515100" y="2560320"/>
            <a:ext cx="50901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Non-root workloads</a:t>
            </a:r>
          </a:p>
          <a:p>
            <a:pPr>
              <a:lnSpc>
                <a:spcPct val="130000"/>
              </a:lnSpc>
              <a:spcBef>
                <a:spcPts val="0"/>
              </a:spcBef>
              <a:spcAft>
                <a:spcPts val="0"/>
              </a:spcAft>
              <a:defRPr sz="1439" b="0">
                <a:solidFill>
                  <a:srgbClr val="A9BAC4"/>
                </a:solidFill>
                <a:latin typeface="Noto Sans"/>
              </a:defRPr>
            </a:pPr>
            <a:r>
              <a:t>Restricted capabilities</a:t>
            </a:r>
          </a:p>
          <a:p>
            <a:pPr>
              <a:lnSpc>
                <a:spcPct val="130000"/>
              </a:lnSpc>
              <a:spcBef>
                <a:spcPts val="0"/>
              </a:spcBef>
              <a:spcAft>
                <a:spcPts val="0"/>
              </a:spcAft>
              <a:defRPr sz="1439" b="0">
                <a:solidFill>
                  <a:srgbClr val="A9BAC4"/>
                </a:solidFill>
                <a:latin typeface="Noto Sans"/>
              </a:defRPr>
            </a:pPr>
            <a:r>
              <a:t>Explicit configuration and credentials</a:t>
            </a:r>
          </a:p>
          <a:p>
            <a:pPr>
              <a:lnSpc>
                <a:spcPct val="130000"/>
              </a:lnSpc>
              <a:spcBef>
                <a:spcPts val="0"/>
              </a:spcBef>
              <a:spcAft>
                <a:spcPts val="0"/>
              </a:spcAft>
              <a:defRPr sz="1439" b="0">
                <a:solidFill>
                  <a:srgbClr val="A9BAC4"/>
                </a:solidFill>
                <a:latin typeface="Noto Sans"/>
              </a:defRPr>
            </a:pPr>
            <a:r>
              <a:t>Network and resource boundaries</a:t>
            </a:r>
          </a:p>
        </p:txBody>
      </p:sp>
      <p:sp>
        <p:nvSpPr>
          <p:cNvPr id="16" name="Rounded Rectangle 15"/>
          <p:cNvSpPr/>
          <p:nvPr/>
        </p:nvSpPr>
        <p:spPr>
          <a:xfrm>
            <a:off x="457200" y="4945380"/>
            <a:ext cx="11277600" cy="70104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560" y="5143500"/>
            <a:ext cx="10881360" cy="350520"/>
          </a:xfrm>
          <a:prstGeom prst="rect">
            <a:avLst/>
          </a:prstGeom>
          <a:noFill/>
        </p:spPr>
        <p:txBody>
          <a:bodyPr wrap="none" lIns="0" rIns="0" tIns="0" bIns="0">
            <a:spAutoFit/>
          </a:bodyPr>
          <a:lstStyle/>
          <a:p>
            <a:pPr>
              <a:lnSpc>
                <a:spcPct val="130000"/>
              </a:lnSpc>
              <a:spcBef>
                <a:spcPts val="0"/>
              </a:spcBef>
              <a:spcAft>
                <a:spcPts val="0"/>
              </a:spcAft>
              <a:defRPr sz="1560" b="1">
                <a:solidFill>
                  <a:srgbClr val="FFAE79"/>
                </a:solidFill>
                <a:latin typeface="Noto Sans"/>
              </a:defRPr>
            </a:pPr>
            <a:r>
              <a:t>CURRENT PRODUCT BOUNDARY: no sign-in or RBAC; keep demo write APIs private.</a:t>
            </a:r>
          </a:p>
        </p:txBody>
      </p:sp>
      <p:sp>
        <p:nvSpPr>
          <p:cNvPr id="18" name="TextBox 17"/>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A scan result is specific to a commit and vulnerability database. No passing scan is inferred from configuration.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MONITORING AND GITOPS</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Observe requests, then explain failures.</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15 / 18</a:t>
            </a:r>
          </a:p>
        </p:txBody>
      </p:sp>
      <p:sp>
        <p:nvSpPr>
          <p:cNvPr id="8" name="Rounded Rectangle 7"/>
          <p:cNvSpPr/>
          <p:nvPr/>
        </p:nvSpPr>
        <p:spPr>
          <a:xfrm>
            <a:off x="457200" y="1943100"/>
            <a:ext cx="5410200" cy="2667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26670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PROMETHEUS → GRAFANA</a:t>
            </a:r>
          </a:p>
        </p:txBody>
      </p:sp>
      <p:sp>
        <p:nvSpPr>
          <p:cNvPr id="11" name="TextBox 10"/>
          <p:cNvSpPr txBox="1"/>
          <p:nvPr/>
        </p:nvSpPr>
        <p:spPr>
          <a:xfrm>
            <a:off x="647700" y="2560320"/>
            <a:ext cx="50901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HTTP request counts</a:t>
            </a:r>
          </a:p>
          <a:p>
            <a:pPr>
              <a:lnSpc>
                <a:spcPct val="130000"/>
              </a:lnSpc>
              <a:spcBef>
                <a:spcPts val="0"/>
              </a:spcBef>
              <a:spcAft>
                <a:spcPts val="0"/>
              </a:spcAft>
              <a:defRPr sz="1439" b="0">
                <a:solidFill>
                  <a:srgbClr val="A9BAC4"/>
                </a:solidFill>
                <a:latin typeface="Noto Sans"/>
              </a:defRPr>
            </a:pPr>
            <a:r>
              <a:t>Request-duration histograms</a:t>
            </a:r>
          </a:p>
          <a:p>
            <a:pPr>
              <a:lnSpc>
                <a:spcPct val="130000"/>
              </a:lnSpc>
              <a:spcBef>
                <a:spcPts val="0"/>
              </a:spcBef>
              <a:spcAft>
                <a:spcPts val="0"/>
              </a:spcAft>
              <a:defRPr sz="1439" b="0">
                <a:solidFill>
                  <a:srgbClr val="A9BAC4"/>
                </a:solidFill>
                <a:latin typeface="Noto Sans"/>
              </a:defRPr>
            </a:pPr>
            <a:r>
              <a:t>Status labels and route labels</a:t>
            </a:r>
          </a:p>
          <a:p>
            <a:pPr>
              <a:lnSpc>
                <a:spcPct val="130000"/>
              </a:lnSpc>
              <a:spcBef>
                <a:spcPts val="0"/>
              </a:spcBef>
              <a:spcAft>
                <a:spcPts val="0"/>
              </a:spcAft>
              <a:defRPr sz="1439" b="0">
                <a:solidFill>
                  <a:srgbClr val="A9BAC4"/>
                </a:solidFill>
                <a:latin typeface="Noto Sans"/>
              </a:defRPr>
            </a:pPr>
            <a:r>
              <a:t>Dashboard and alert definitions</a:t>
            </a:r>
          </a:p>
        </p:txBody>
      </p:sp>
      <p:sp>
        <p:nvSpPr>
          <p:cNvPr id="12" name="Rounded Rectangle 11"/>
          <p:cNvSpPr/>
          <p:nvPr/>
        </p:nvSpPr>
        <p:spPr>
          <a:xfrm>
            <a:off x="6324600" y="1943100"/>
            <a:ext cx="5410200" cy="26670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600" y="1943100"/>
            <a:ext cx="38100" cy="26670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51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GIT → ARGO CD</a:t>
            </a:r>
          </a:p>
        </p:txBody>
      </p:sp>
      <p:sp>
        <p:nvSpPr>
          <p:cNvPr id="15" name="TextBox 14"/>
          <p:cNvSpPr txBox="1"/>
          <p:nvPr/>
        </p:nvSpPr>
        <p:spPr>
          <a:xfrm>
            <a:off x="6515100" y="2560320"/>
            <a:ext cx="5090160" cy="103632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Review desired state in Git</a:t>
            </a:r>
          </a:p>
          <a:p>
            <a:pPr>
              <a:lnSpc>
                <a:spcPct val="130000"/>
              </a:lnSpc>
              <a:spcBef>
                <a:spcPts val="0"/>
              </a:spcBef>
              <a:spcAft>
                <a:spcPts val="0"/>
              </a:spcAft>
              <a:defRPr sz="1439" b="0">
                <a:solidFill>
                  <a:srgbClr val="A9BAC4"/>
                </a:solidFill>
                <a:latin typeface="Noto Sans"/>
              </a:defRPr>
            </a:pPr>
            <a:r>
              <a:t>Reconcile the Helm release</a:t>
            </a:r>
          </a:p>
          <a:p>
            <a:pPr>
              <a:lnSpc>
                <a:spcPct val="130000"/>
              </a:lnSpc>
              <a:spcBef>
                <a:spcPts val="0"/>
              </a:spcBef>
              <a:spcAft>
                <a:spcPts val="0"/>
              </a:spcAft>
              <a:defRPr sz="1439" b="0">
                <a:solidFill>
                  <a:srgbClr val="A9BAC4"/>
                </a:solidFill>
                <a:latin typeface="Noto Sans"/>
              </a:defRPr>
            </a:pPr>
            <a:r>
              <a:t>Track the deployed image revision</a:t>
            </a:r>
          </a:p>
          <a:p>
            <a:pPr>
              <a:lnSpc>
                <a:spcPct val="130000"/>
              </a:lnSpc>
              <a:spcBef>
                <a:spcPts val="0"/>
              </a:spcBef>
              <a:spcAft>
                <a:spcPts val="0"/>
              </a:spcAft>
              <a:defRPr sz="1439" b="0">
                <a:solidFill>
                  <a:srgbClr val="A9BAC4"/>
                </a:solidFill>
                <a:latin typeface="Noto Sans"/>
              </a:defRPr>
            </a:pPr>
            <a:r>
              <a:t>Recover from configuration drift</a:t>
            </a:r>
          </a:p>
        </p:txBody>
      </p:sp>
      <p:sp>
        <p:nvSpPr>
          <p:cNvPr id="16" name="Rounded Rectangle 15"/>
          <p:cNvSpPr/>
          <p:nvPr/>
        </p:nvSpPr>
        <p:spPr>
          <a:xfrm>
            <a:off x="457200" y="4945380"/>
            <a:ext cx="11277600" cy="70104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0560" y="5151120"/>
            <a:ext cx="10881360" cy="365760"/>
          </a:xfrm>
          <a:prstGeom prst="rect">
            <a:avLst/>
          </a:prstGeom>
          <a:noFill/>
        </p:spPr>
        <p:txBody>
          <a:bodyPr wrap="none" lIns="0" rIns="0" tIns="0" bIns="0">
            <a:spAutoFit/>
          </a:bodyPr>
          <a:lstStyle/>
          <a:p>
            <a:pPr>
              <a:lnSpc>
                <a:spcPct val="130000"/>
              </a:lnSpc>
              <a:spcBef>
                <a:spcPts val="0"/>
              </a:spcBef>
              <a:spcAft>
                <a:spcPts val="0"/>
              </a:spcAft>
              <a:defRPr sz="1680" b="1">
                <a:solidFill>
                  <a:srgbClr val="F4F2EB"/>
                </a:solidFill>
                <a:latin typeface="Noto Sans"/>
              </a:defRPr>
            </a:pPr>
            <a:r>
              <a:t>JSON request logs connect method, route, status and elapsed time.</a:t>
            </a:r>
          </a:p>
        </p:txBody>
      </p:sp>
      <p:sp>
        <p:nvSpPr>
          <p:cNvPr id="18" name="TextBox 17"/>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Live Grafana graphs and Argo CD Healthy/Synced status require captured runtime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TERRAFORM / DEPLOYMENT BOUNDARY</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Cloud infrastructure is explicit and reviewable.</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16 / 18</a:t>
            </a:r>
          </a:p>
        </p:txBody>
      </p:sp>
      <p:sp>
        <p:nvSpPr>
          <p:cNvPr id="8" name="Rounded Rectangle 7"/>
          <p:cNvSpPr/>
          <p:nvPr/>
        </p:nvSpPr>
        <p:spPr>
          <a:xfrm>
            <a:off x="457200" y="1866899"/>
            <a:ext cx="11277600" cy="35052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80260"/>
            <a:ext cx="9966960" cy="312420"/>
          </a:xfrm>
          <a:prstGeom prst="rect">
            <a:avLst/>
          </a:prstGeom>
          <a:noFill/>
        </p:spPr>
        <p:txBody>
          <a:bodyPr wrap="none" lIns="0" rIns="0" tIns="0" bIns="0">
            <a:spAutoFit/>
          </a:bodyPr>
          <a:lstStyle/>
          <a:p>
            <a:pPr>
              <a:lnSpc>
                <a:spcPct val="130000"/>
              </a:lnSpc>
              <a:spcBef>
                <a:spcPts val="0"/>
              </a:spcBef>
              <a:spcAft>
                <a:spcPts val="0"/>
              </a:spcAft>
              <a:defRPr sz="1320" b="1">
                <a:solidFill>
                  <a:srgbClr val="76E0BD"/>
                </a:solidFill>
                <a:latin typeface="Noto Sans"/>
              </a:defRPr>
            </a:pPr>
            <a:r>
              <a:t>AWS VPC</a:t>
            </a:r>
          </a:p>
        </p:txBody>
      </p:sp>
      <p:sp>
        <p:nvSpPr>
          <p:cNvPr id="10" name="Rounded Rectangle 9"/>
          <p:cNvSpPr/>
          <p:nvPr/>
        </p:nvSpPr>
        <p:spPr>
          <a:xfrm>
            <a:off x="762000" y="2567940"/>
            <a:ext cx="4953000" cy="1524000"/>
          </a:xfrm>
          <a:prstGeom prst="roundRect">
            <a:avLst>
              <a:gd name="adj" fmla="val 6000"/>
            </a:avLst>
          </a:prstGeom>
          <a:solidFill>
            <a:srgbClr val="22313C"/>
          </a:solidFill>
          <a:ln>
            <a:solidFill>
              <a:srgbClr val="91BD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2500" y="2758440"/>
            <a:ext cx="4632960" cy="297180"/>
          </a:xfrm>
          <a:prstGeom prst="rect">
            <a:avLst/>
          </a:prstGeom>
          <a:noFill/>
        </p:spPr>
        <p:txBody>
          <a:bodyPr wrap="none" lIns="0" rIns="0" tIns="0" bIns="0">
            <a:spAutoFit/>
          </a:bodyPr>
          <a:lstStyle/>
          <a:p>
            <a:pPr>
              <a:lnSpc>
                <a:spcPct val="130000"/>
              </a:lnSpc>
              <a:spcBef>
                <a:spcPts val="0"/>
              </a:spcBef>
              <a:spcAft>
                <a:spcPts val="0"/>
              </a:spcAft>
              <a:defRPr sz="1260" b="1">
                <a:solidFill>
                  <a:srgbClr val="91BDF0"/>
                </a:solidFill>
                <a:latin typeface="Noto Sans"/>
              </a:defRPr>
            </a:pPr>
            <a:r>
              <a:t>PUBLIC SUBNETS</a:t>
            </a:r>
          </a:p>
        </p:txBody>
      </p:sp>
      <p:sp>
        <p:nvSpPr>
          <p:cNvPr id="12" name="TextBox 11"/>
          <p:cNvSpPr txBox="1"/>
          <p:nvPr/>
        </p:nvSpPr>
        <p:spPr>
          <a:xfrm>
            <a:off x="952500" y="3101340"/>
            <a:ext cx="4556760" cy="609600"/>
          </a:xfrm>
          <a:prstGeom prst="rect">
            <a:avLst/>
          </a:prstGeom>
          <a:noFill/>
        </p:spPr>
        <p:txBody>
          <a:bodyPr wrap="none" lIns="0" rIns="0" tIns="0" bIns="0">
            <a:spAutoFit/>
          </a:bodyPr>
          <a:lstStyle/>
          <a:p>
            <a:pPr>
              <a:lnSpc>
                <a:spcPct val="130000"/>
              </a:lnSpc>
              <a:spcBef>
                <a:spcPts val="0"/>
              </a:spcBef>
              <a:spcAft>
                <a:spcPts val="0"/>
              </a:spcAft>
              <a:defRPr sz="1560" b="0">
                <a:solidFill>
                  <a:srgbClr val="F4F2EB"/>
                </a:solidFill>
                <a:latin typeface="Noto Sans"/>
              </a:defRPr>
            </a:pPr>
            <a:r>
              <a:t>Internet access and optional NAT</a:t>
            </a:r>
          </a:p>
          <a:p>
            <a:pPr>
              <a:lnSpc>
                <a:spcPct val="130000"/>
              </a:lnSpc>
              <a:spcBef>
                <a:spcPts val="0"/>
              </a:spcBef>
              <a:spcAft>
                <a:spcPts val="0"/>
              </a:spcAft>
              <a:defRPr sz="1560" b="0">
                <a:solidFill>
                  <a:srgbClr val="F4F2EB"/>
                </a:solidFill>
                <a:latin typeface="Noto Sans"/>
              </a:defRPr>
            </a:pPr>
            <a:r>
              <a:t>Explicit networking choices</a:t>
            </a:r>
          </a:p>
        </p:txBody>
      </p:sp>
      <p:sp>
        <p:nvSpPr>
          <p:cNvPr id="13" name="Rounded Rectangle 12"/>
          <p:cNvSpPr/>
          <p:nvPr/>
        </p:nvSpPr>
        <p:spPr>
          <a:xfrm>
            <a:off x="6477000" y="2567940"/>
            <a:ext cx="4953000" cy="1524000"/>
          </a:xfrm>
          <a:prstGeom prst="roundRect">
            <a:avLst>
              <a:gd name="adj" fmla="val 6000"/>
            </a:avLst>
          </a:prstGeom>
          <a:solidFill>
            <a:srgbClr val="22313C"/>
          </a:solidFill>
          <a:ln>
            <a:solidFill>
              <a:srgbClr val="76E0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67500" y="2758440"/>
            <a:ext cx="4632960" cy="297180"/>
          </a:xfrm>
          <a:prstGeom prst="rect">
            <a:avLst/>
          </a:prstGeom>
          <a:noFill/>
        </p:spPr>
        <p:txBody>
          <a:bodyPr wrap="none" lIns="0" rIns="0" tIns="0" bIns="0">
            <a:spAutoFit/>
          </a:bodyPr>
          <a:lstStyle/>
          <a:p>
            <a:pPr>
              <a:lnSpc>
                <a:spcPct val="130000"/>
              </a:lnSpc>
              <a:spcBef>
                <a:spcPts val="0"/>
              </a:spcBef>
              <a:spcAft>
                <a:spcPts val="0"/>
              </a:spcAft>
              <a:defRPr sz="1260" b="1">
                <a:solidFill>
                  <a:srgbClr val="76E0BD"/>
                </a:solidFill>
                <a:latin typeface="Noto Sans"/>
              </a:defRPr>
            </a:pPr>
            <a:r>
              <a:t>PRIVATE SUBNETS</a:t>
            </a:r>
          </a:p>
        </p:txBody>
      </p:sp>
      <p:sp>
        <p:nvSpPr>
          <p:cNvPr id="15" name="TextBox 14"/>
          <p:cNvSpPr txBox="1"/>
          <p:nvPr/>
        </p:nvSpPr>
        <p:spPr>
          <a:xfrm>
            <a:off x="6667500" y="3101340"/>
            <a:ext cx="4556760" cy="609600"/>
          </a:xfrm>
          <a:prstGeom prst="rect">
            <a:avLst/>
          </a:prstGeom>
          <a:noFill/>
        </p:spPr>
        <p:txBody>
          <a:bodyPr wrap="none" lIns="0" rIns="0" tIns="0" bIns="0">
            <a:spAutoFit/>
          </a:bodyPr>
          <a:lstStyle/>
          <a:p>
            <a:pPr>
              <a:lnSpc>
                <a:spcPct val="130000"/>
              </a:lnSpc>
              <a:spcBef>
                <a:spcPts val="0"/>
              </a:spcBef>
              <a:spcAft>
                <a:spcPts val="0"/>
              </a:spcAft>
              <a:defRPr sz="1560" b="0">
                <a:solidFill>
                  <a:srgbClr val="F4F2EB"/>
                </a:solidFill>
                <a:latin typeface="Noto Sans"/>
              </a:defRPr>
            </a:pPr>
            <a:r>
              <a:t>EKS managed worker nodes</a:t>
            </a:r>
          </a:p>
          <a:p>
            <a:pPr>
              <a:lnSpc>
                <a:spcPct val="130000"/>
              </a:lnSpc>
              <a:spcBef>
                <a:spcPts val="0"/>
              </a:spcBef>
              <a:spcAft>
                <a:spcPts val="0"/>
              </a:spcAft>
              <a:defRPr sz="1560" b="0">
                <a:solidFill>
                  <a:srgbClr val="F4F2EB"/>
                </a:solidFill>
                <a:latin typeface="Noto Sans"/>
              </a:defRPr>
            </a:pPr>
            <a:r>
              <a:t>Encrypted persistent storage</a:t>
            </a:r>
          </a:p>
        </p:txBody>
      </p:sp>
      <p:sp>
        <p:nvSpPr>
          <p:cNvPr id="16" name="TextBox 15"/>
          <p:cNvSpPr txBox="1"/>
          <p:nvPr/>
        </p:nvSpPr>
        <p:spPr>
          <a:xfrm>
            <a:off x="762000" y="4457700"/>
            <a:ext cx="10500360" cy="411480"/>
          </a:xfrm>
          <a:prstGeom prst="rect">
            <a:avLst/>
          </a:prstGeom>
          <a:noFill/>
        </p:spPr>
        <p:txBody>
          <a:bodyPr wrap="none" lIns="0" rIns="0" tIns="0" bIns="0">
            <a:spAutoFit/>
          </a:bodyPr>
          <a:lstStyle/>
          <a:p>
            <a:pPr>
              <a:lnSpc>
                <a:spcPct val="130000"/>
              </a:lnSpc>
              <a:spcBef>
                <a:spcPts val="0"/>
              </a:spcBef>
              <a:spcAft>
                <a:spcPts val="0"/>
              </a:spcAft>
              <a:defRPr sz="1920" b="1">
                <a:solidFill>
                  <a:srgbClr val="F4F2EB"/>
                </a:solidFill>
                <a:latin typeface="Noto Sans"/>
              </a:defRPr>
            </a:pPr>
            <a:r>
              <a:t>Plan → review → apply → verify → capture → destroy</a:t>
            </a:r>
          </a:p>
        </p:txBody>
      </p:sp>
      <p:sp>
        <p:nvSpPr>
          <p:cNvPr id="17" name="Rounded Rectangle 16"/>
          <p:cNvSpPr/>
          <p:nvPr/>
        </p:nvSpPr>
        <p:spPr>
          <a:xfrm>
            <a:off x="7696199" y="4930140"/>
            <a:ext cx="3657600" cy="2895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4983480"/>
            <a:ext cx="3505200" cy="281940"/>
          </a:xfrm>
          <a:prstGeom prst="rect">
            <a:avLst/>
          </a:prstGeom>
          <a:noFill/>
        </p:spPr>
        <p:txBody>
          <a:bodyPr wrap="none" lIns="0" rIns="0" tIns="0" bIns="0">
            <a:spAutoFit/>
          </a:bodyPr>
          <a:lstStyle/>
          <a:p>
            <a:pPr>
              <a:lnSpc>
                <a:spcPct val="130000"/>
              </a:lnSpc>
              <a:spcBef>
                <a:spcPts val="0"/>
              </a:spcBef>
              <a:spcAft>
                <a:spcPts val="0"/>
              </a:spcAft>
              <a:defRPr sz="1140" b="1">
                <a:solidFill>
                  <a:srgbClr val="FFAE79"/>
                </a:solidFill>
                <a:latin typeface="Noto Sans"/>
              </a:defRPr>
            </a:pPr>
            <a:r>
              <a:t>NO AWS DEPLOYMENT CLAIMED</a:t>
            </a:r>
          </a:p>
        </p:txBody>
      </p:sp>
      <p:sp>
        <p:nvSpPr>
          <p:cNvPr id="19" name="TextBox 18"/>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AWS access is unavailable for this session. Definitions are separate from a real Terraform plan or apply.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VERIFICATION REGISTER</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Evidence follows execution, not ambition.</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17 / 18</a:t>
            </a:r>
          </a:p>
        </p:txBody>
      </p:sp>
      <p:sp>
        <p:nvSpPr>
          <p:cNvPr id="8" name="Rounded Rectangle 7"/>
          <p:cNvSpPr/>
          <p:nvPr/>
        </p:nvSpPr>
        <p:spPr>
          <a:xfrm>
            <a:off x="457200" y="1828800"/>
            <a:ext cx="11277600" cy="5181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7358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Application code</a:t>
            </a:r>
          </a:p>
        </p:txBody>
      </p:sp>
      <p:sp>
        <p:nvSpPr>
          <p:cNvPr id="10" name="TextBox 9"/>
          <p:cNvSpPr txBox="1"/>
          <p:nvPr/>
        </p:nvSpPr>
        <p:spPr>
          <a:xfrm>
            <a:off x="3741420" y="197358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76E0BD"/>
                </a:solidFill>
                <a:latin typeface="Noto Sans"/>
              </a:defRPr>
            </a:pPr>
            <a:r>
              <a:t>Implemented</a:t>
            </a:r>
          </a:p>
        </p:txBody>
      </p:sp>
      <p:sp>
        <p:nvSpPr>
          <p:cNvPr id="11" name="TextBox 10"/>
          <p:cNvSpPr txBox="1"/>
          <p:nvPr/>
        </p:nvSpPr>
        <p:spPr>
          <a:xfrm>
            <a:off x="7231380" y="1981199"/>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Catalog, stock rules, orders, reports</a:t>
            </a:r>
          </a:p>
        </p:txBody>
      </p:sp>
      <p:sp>
        <p:nvSpPr>
          <p:cNvPr id="12" name="Rounded Rectangle 11"/>
          <p:cNvSpPr/>
          <p:nvPr/>
        </p:nvSpPr>
        <p:spPr>
          <a:xfrm>
            <a:off x="457200" y="2430780"/>
            <a:ext cx="11277600" cy="5181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7556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Backend verification</a:t>
            </a:r>
          </a:p>
        </p:txBody>
      </p:sp>
      <p:sp>
        <p:nvSpPr>
          <p:cNvPr id="14" name="TextBox 13"/>
          <p:cNvSpPr txBox="1"/>
          <p:nvPr/>
        </p:nvSpPr>
        <p:spPr>
          <a:xfrm>
            <a:off x="3741420" y="257556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76E0BD"/>
                </a:solidFill>
                <a:latin typeface="Noto Sans"/>
              </a:defRPr>
            </a:pPr>
            <a:r>
              <a:t>36 passed · 1 skipped</a:t>
            </a:r>
          </a:p>
        </p:txBody>
      </p:sp>
      <p:sp>
        <p:nvSpPr>
          <p:cNvPr id="15" name="TextBox 14"/>
          <p:cNvSpPr txBox="1"/>
          <p:nvPr/>
        </p:nvSpPr>
        <p:spPr>
          <a:xfrm>
            <a:off x="7231380" y="2583180"/>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97% coverage; PostgreSQL concurrency pending</a:t>
            </a:r>
          </a:p>
        </p:txBody>
      </p:sp>
      <p:sp>
        <p:nvSpPr>
          <p:cNvPr id="16" name="Rounded Rectangle 15"/>
          <p:cNvSpPr/>
          <p:nvPr/>
        </p:nvSpPr>
        <p:spPr>
          <a:xfrm>
            <a:off x="457200" y="3032760"/>
            <a:ext cx="11277600" cy="5181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17754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Frontend verification</a:t>
            </a:r>
          </a:p>
        </p:txBody>
      </p:sp>
      <p:sp>
        <p:nvSpPr>
          <p:cNvPr id="18" name="TextBox 17"/>
          <p:cNvSpPr txBox="1"/>
          <p:nvPr/>
        </p:nvSpPr>
        <p:spPr>
          <a:xfrm>
            <a:off x="3741420" y="317754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76E0BD"/>
                </a:solidFill>
                <a:latin typeface="Noto Sans"/>
              </a:defRPr>
            </a:pPr>
            <a:r>
              <a:t>TypeScript + build passed</a:t>
            </a:r>
          </a:p>
        </p:txBody>
      </p:sp>
      <p:sp>
        <p:nvSpPr>
          <p:cNvPr id="19" name="TextBox 18"/>
          <p:cNvSpPr txBox="1"/>
          <p:nvPr/>
        </p:nvSpPr>
        <p:spPr>
          <a:xfrm>
            <a:off x="7231380" y="3185160"/>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Production JS 189.83 kB / gzip 57.70 kB</a:t>
            </a:r>
          </a:p>
        </p:txBody>
      </p:sp>
      <p:sp>
        <p:nvSpPr>
          <p:cNvPr id="20" name="Rounded Rectangle 19"/>
          <p:cNvSpPr/>
          <p:nvPr/>
        </p:nvSpPr>
        <p:spPr>
          <a:xfrm>
            <a:off x="457200" y="3634740"/>
            <a:ext cx="11277600" cy="5181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77952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Containers + cluster</a:t>
            </a:r>
          </a:p>
        </p:txBody>
      </p:sp>
      <p:sp>
        <p:nvSpPr>
          <p:cNvPr id="22" name="TextBox 21"/>
          <p:cNvSpPr txBox="1"/>
          <p:nvPr/>
        </p:nvSpPr>
        <p:spPr>
          <a:xfrm>
            <a:off x="3741420" y="377952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FAE79"/>
                </a:solidFill>
                <a:latin typeface="Noto Sans"/>
              </a:defRPr>
            </a:pPr>
            <a:r>
              <a:t>Not executed here</a:t>
            </a:r>
          </a:p>
        </p:txBody>
      </p:sp>
      <p:sp>
        <p:nvSpPr>
          <p:cNvPr id="23" name="TextBox 22"/>
          <p:cNvSpPr txBox="1"/>
          <p:nvPr/>
        </p:nvSpPr>
        <p:spPr>
          <a:xfrm>
            <a:off x="7231380" y="3787140"/>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Local Docker socket unavailable</a:t>
            </a:r>
          </a:p>
        </p:txBody>
      </p:sp>
      <p:sp>
        <p:nvSpPr>
          <p:cNvPr id="24" name="Rounded Rectangle 23"/>
          <p:cNvSpPr/>
          <p:nvPr/>
        </p:nvSpPr>
        <p:spPr>
          <a:xfrm>
            <a:off x="457200" y="4236720"/>
            <a:ext cx="11277600" cy="51816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38150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Browser recording</a:t>
            </a:r>
          </a:p>
        </p:txBody>
      </p:sp>
      <p:sp>
        <p:nvSpPr>
          <p:cNvPr id="26" name="TextBox 25"/>
          <p:cNvSpPr txBox="1"/>
          <p:nvPr/>
        </p:nvSpPr>
        <p:spPr>
          <a:xfrm>
            <a:off x="3741420" y="438150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FAE79"/>
                </a:solidFill>
                <a:latin typeface="Noto Sans"/>
              </a:defRPr>
            </a:pPr>
            <a:r>
              <a:t>Not available here</a:t>
            </a:r>
          </a:p>
        </p:txBody>
      </p:sp>
      <p:sp>
        <p:nvSpPr>
          <p:cNvPr id="27" name="TextBox 26"/>
          <p:cNvSpPr txBox="1"/>
          <p:nvPr/>
        </p:nvSpPr>
        <p:spPr>
          <a:xfrm>
            <a:off x="7231380" y="4389120"/>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Chromium sandbox process denied</a:t>
            </a:r>
          </a:p>
        </p:txBody>
      </p:sp>
      <p:sp>
        <p:nvSpPr>
          <p:cNvPr id="28" name="Rounded Rectangle 27"/>
          <p:cNvSpPr/>
          <p:nvPr/>
        </p:nvSpPr>
        <p:spPr>
          <a:xfrm>
            <a:off x="457200" y="4838700"/>
            <a:ext cx="11277600" cy="518160"/>
          </a:xfrm>
          <a:prstGeom prst="roundRect">
            <a:avLst>
              <a:gd name="adj" fmla="val 6000"/>
            </a:avLst>
          </a:prstGeom>
          <a:solidFill>
            <a:srgbClr val="223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983480"/>
            <a:ext cx="2994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4F2EB"/>
                </a:solidFill>
                <a:latin typeface="Noto Sans"/>
              </a:defRPr>
            </a:pPr>
            <a:r>
              <a:t>Hosted CI + AWS</a:t>
            </a:r>
          </a:p>
        </p:txBody>
      </p:sp>
      <p:sp>
        <p:nvSpPr>
          <p:cNvPr id="30" name="TextBox 29"/>
          <p:cNvSpPr txBox="1"/>
          <p:nvPr/>
        </p:nvSpPr>
        <p:spPr>
          <a:xfrm>
            <a:off x="3741420" y="4983480"/>
            <a:ext cx="3375660" cy="320040"/>
          </a:xfrm>
          <a:prstGeom prst="rect">
            <a:avLst/>
          </a:prstGeom>
          <a:noFill/>
        </p:spPr>
        <p:txBody>
          <a:bodyPr wrap="none" lIns="0" rIns="0" tIns="0" bIns="0">
            <a:spAutoFit/>
          </a:bodyPr>
          <a:lstStyle/>
          <a:p>
            <a:pPr>
              <a:lnSpc>
                <a:spcPct val="130000"/>
              </a:lnSpc>
              <a:spcBef>
                <a:spcPts val="0"/>
              </a:spcBef>
              <a:spcAft>
                <a:spcPts val="0"/>
              </a:spcAft>
              <a:defRPr sz="1380" b="1">
                <a:solidFill>
                  <a:srgbClr val="FFAE79"/>
                </a:solidFill>
                <a:latin typeface="Noto Sans"/>
              </a:defRPr>
            </a:pPr>
            <a:r>
              <a:t>Not claimed</a:t>
            </a:r>
          </a:p>
        </p:txBody>
      </p:sp>
      <p:sp>
        <p:nvSpPr>
          <p:cNvPr id="31" name="TextBox 30"/>
          <p:cNvSpPr txBox="1"/>
          <p:nvPr/>
        </p:nvSpPr>
        <p:spPr>
          <a:xfrm>
            <a:off x="7231380" y="4991100"/>
            <a:ext cx="4366260" cy="297180"/>
          </a:xfrm>
          <a:prstGeom prst="rect">
            <a:avLst/>
          </a:prstGeom>
          <a:noFill/>
        </p:spPr>
        <p:txBody>
          <a:bodyPr wrap="none" lIns="0" rIns="0" tIns="0" bIns="0">
            <a:spAutoFit/>
          </a:bodyPr>
          <a:lstStyle/>
          <a:p>
            <a:pPr>
              <a:lnSpc>
                <a:spcPct val="130000"/>
              </a:lnSpc>
              <a:spcBef>
                <a:spcPts val="0"/>
              </a:spcBef>
              <a:spcAft>
                <a:spcPts val="0"/>
              </a:spcAft>
              <a:defRPr sz="1260" b="0">
                <a:solidFill>
                  <a:srgbClr val="A9BAC4"/>
                </a:solidFill>
                <a:latin typeface="Noto Sans"/>
              </a:defRPr>
            </a:pPr>
            <a:r>
              <a:t>External access required</a:t>
            </a:r>
          </a:p>
        </p:txBody>
      </p:sp>
      <p:sp>
        <p:nvSpPr>
          <p:cNvPr id="32" name="TextBox 31"/>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Read docs/evidence.md and the referenced logs for exact commands, scope and timestamps.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1820"/>
        </a:solidFill>
        <a:effectLst/>
      </p:bgPr>
    </p:bg>
    <p:spTree>
      <p:nvGrpSpPr>
        <p:cNvPr id="1" name=""/>
        <p:cNvGrpSpPr/>
        <p:nvPr/>
      </p:nvGrpSpPr>
      <p:grpSpPr/>
      <p:sp>
        <p:nvSpPr>
          <p:cNvPr id="2" name="Rounded Rectangle 1"/>
          <p:cNvSpPr/>
          <p:nvPr/>
        </p:nvSpPr>
        <p:spPr>
          <a:xfrm>
            <a:off x="457200" y="434340"/>
            <a:ext cx="76200" cy="243840"/>
          </a:xfrm>
          <a:prstGeom prst="roundRect">
            <a:avLst>
              <a:gd name="adj" fmla="val 6000"/>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0560" y="419100"/>
            <a:ext cx="10424160" cy="289560"/>
          </a:xfrm>
          <a:prstGeom prst="rect">
            <a:avLst/>
          </a:prstGeom>
          <a:noFill/>
        </p:spPr>
        <p:txBody>
          <a:bodyPr wrap="none" lIns="0" rIns="0" tIns="0" bIns="0">
            <a:spAutoFit/>
          </a:bodyPr>
          <a:lstStyle/>
          <a:p>
            <a:pPr>
              <a:lnSpc>
                <a:spcPct val="130000"/>
              </a:lnSpc>
              <a:spcBef>
                <a:spcPts val="0"/>
              </a:spcBef>
              <a:spcAft>
                <a:spcPts val="0"/>
              </a:spcAft>
              <a:defRPr sz="1200" b="1">
                <a:solidFill>
                  <a:srgbClr val="76E0BD"/>
                </a:solidFill>
                <a:latin typeface="Noto Sans"/>
              </a:defRPr>
            </a:pPr>
            <a:r>
              <a:t>PRESENTER RUNBOOK / NEXT VERIFICATION</a:t>
            </a:r>
          </a:p>
        </p:txBody>
      </p:sp>
      <p:sp>
        <p:nvSpPr>
          <p:cNvPr id="4" name="TextBox 3"/>
          <p:cNvSpPr txBox="1"/>
          <p:nvPr/>
        </p:nvSpPr>
        <p:spPr>
          <a:xfrm>
            <a:off x="457200" y="853440"/>
            <a:ext cx="11262360" cy="617220"/>
          </a:xfrm>
          <a:prstGeom prst="rect">
            <a:avLst/>
          </a:prstGeom>
          <a:noFill/>
        </p:spPr>
        <p:txBody>
          <a:bodyPr wrap="none" lIns="0" rIns="0" tIns="0" bIns="0">
            <a:spAutoFit/>
          </a:bodyPr>
          <a:lstStyle/>
          <a:p>
            <a:pPr>
              <a:lnSpc>
                <a:spcPct val="130000"/>
              </a:lnSpc>
              <a:spcBef>
                <a:spcPts val="0"/>
              </a:spcBef>
              <a:spcAft>
                <a:spcPts val="0"/>
              </a:spcAft>
              <a:defRPr sz="3179" b="1">
                <a:solidFill>
                  <a:srgbClr val="F4F2EB"/>
                </a:solidFill>
                <a:latin typeface="Noto Sans"/>
              </a:defRPr>
            </a:pPr>
            <a:r>
              <a:t>A complete demo has a clear next action.</a:t>
            </a:r>
          </a:p>
        </p:txBody>
      </p:sp>
      <p:cxnSp>
        <p:nvCxnSpPr>
          <p:cNvPr id="5" name="Connector 4"/>
          <p:cNvCxnSpPr/>
          <p:nvPr/>
        </p:nvCxnSpPr>
        <p:spPr>
          <a:xfrm>
            <a:off x="457200" y="6278880"/>
            <a:ext cx="11277600" cy="0"/>
          </a:xfrm>
          <a:prstGeom prst="line">
            <a:avLst/>
          </a:prstGeom>
          <a:ln w="15240">
            <a:solidFill>
              <a:srgbClr val="3246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454140"/>
            <a:ext cx="8442960" cy="251460"/>
          </a:xfrm>
          <a:prstGeom prst="rect">
            <a:avLst/>
          </a:prstGeom>
          <a:noFill/>
        </p:spPr>
        <p:txBody>
          <a:bodyPr wrap="none" lIns="0" rIns="0" tIns="0" bIns="0">
            <a:spAutoFit/>
          </a:bodyPr>
          <a:lstStyle/>
          <a:p>
            <a:pPr>
              <a:lnSpc>
                <a:spcPct val="130000"/>
              </a:lnSpc>
              <a:spcBef>
                <a:spcPts val="0"/>
              </a:spcBef>
              <a:spcAft>
                <a:spcPts val="0"/>
              </a:spcAft>
              <a:defRPr sz="960" b="0">
                <a:solidFill>
                  <a:srgbClr val="A9BAC4"/>
                </a:solidFill>
                <a:latin typeface="Noto Sans"/>
              </a:defRPr>
            </a:pPr>
            <a:r>
              <a:t>STOCKPILOT / VIMAL KUMAR YADAV · 24BCS10273</a:t>
            </a:r>
          </a:p>
        </p:txBody>
      </p:sp>
      <p:sp>
        <p:nvSpPr>
          <p:cNvPr id="7" name="TextBox 6"/>
          <p:cNvSpPr txBox="1"/>
          <p:nvPr/>
        </p:nvSpPr>
        <p:spPr>
          <a:xfrm>
            <a:off x="10706100" y="6438900"/>
            <a:ext cx="1203960" cy="266700"/>
          </a:xfrm>
          <a:prstGeom prst="rect">
            <a:avLst/>
          </a:prstGeom>
          <a:noFill/>
        </p:spPr>
        <p:txBody>
          <a:bodyPr wrap="none" lIns="0" rIns="0" tIns="0" bIns="0">
            <a:spAutoFit/>
          </a:bodyPr>
          <a:lstStyle/>
          <a:p>
            <a:pPr>
              <a:lnSpc>
                <a:spcPct val="130000"/>
              </a:lnSpc>
              <a:spcBef>
                <a:spcPts val="0"/>
              </a:spcBef>
              <a:spcAft>
                <a:spcPts val="0"/>
              </a:spcAft>
              <a:defRPr sz="1080" b="0">
                <a:solidFill>
                  <a:srgbClr val="A9BAC4"/>
                </a:solidFill>
                <a:latin typeface="Noto Sans"/>
              </a:defRPr>
            </a:pPr>
            <a:r>
              <a:t>18 / 18</a:t>
            </a:r>
          </a:p>
        </p:txBody>
      </p:sp>
      <p:sp>
        <p:nvSpPr>
          <p:cNvPr id="8" name="Rounded Rectangle 7"/>
          <p:cNvSpPr/>
          <p:nvPr/>
        </p:nvSpPr>
        <p:spPr>
          <a:xfrm>
            <a:off x="457200" y="1943100"/>
            <a:ext cx="5410200" cy="28194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43100"/>
            <a:ext cx="38100" cy="2819400"/>
          </a:xfrm>
          <a:prstGeom prst="rect">
            <a:avLst/>
          </a:prstGeom>
          <a:solidFill>
            <a:srgbClr val="76E0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7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PRODUCT WALKTHROUGH</a:t>
            </a:r>
          </a:p>
        </p:txBody>
      </p:sp>
      <p:sp>
        <p:nvSpPr>
          <p:cNvPr id="11" name="TextBox 10"/>
          <p:cNvSpPr txBox="1"/>
          <p:nvPr/>
        </p:nvSpPr>
        <p:spPr>
          <a:xfrm>
            <a:off x="647700" y="2560320"/>
            <a:ext cx="5090160" cy="127254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1 Open dashboard and catalogue</a:t>
            </a:r>
          </a:p>
          <a:p>
            <a:pPr>
              <a:lnSpc>
                <a:spcPct val="130000"/>
              </a:lnSpc>
              <a:spcBef>
                <a:spcPts val="0"/>
              </a:spcBef>
              <a:spcAft>
                <a:spcPts val="0"/>
              </a:spcAft>
              <a:defRPr sz="1439" b="0">
                <a:solidFill>
                  <a:srgbClr val="A9BAC4"/>
                </a:solidFill>
                <a:latin typeface="Noto Sans"/>
              </a:defRPr>
            </a:pPr>
            <a:r>
              <a:t>2 Receive and transfer stock</a:t>
            </a:r>
          </a:p>
          <a:p>
            <a:pPr>
              <a:lnSpc>
                <a:spcPct val="130000"/>
              </a:lnSpc>
              <a:spcBef>
                <a:spcPts val="0"/>
              </a:spcBef>
              <a:spcAft>
                <a:spcPts val="0"/>
              </a:spcAft>
              <a:defRPr sz="1439" b="0">
                <a:solidFill>
                  <a:srgbClr val="A9BAC4"/>
                </a:solidFill>
                <a:latin typeface="Noto Sans"/>
              </a:defRPr>
            </a:pPr>
            <a:r>
              <a:t>3 Reserve, release and fulfil</a:t>
            </a:r>
          </a:p>
          <a:p>
            <a:pPr>
              <a:lnSpc>
                <a:spcPct val="130000"/>
              </a:lnSpc>
              <a:spcBef>
                <a:spcPts val="0"/>
              </a:spcBef>
              <a:spcAft>
                <a:spcPts val="0"/>
              </a:spcAft>
              <a:defRPr sz="1439" b="0">
                <a:solidFill>
                  <a:srgbClr val="A9BAC4"/>
                </a:solidFill>
                <a:latin typeface="Noto Sans"/>
              </a:defRPr>
            </a:pPr>
            <a:r>
              <a:t>4 Order and receive a purchase</a:t>
            </a:r>
          </a:p>
          <a:p>
            <a:pPr>
              <a:lnSpc>
                <a:spcPct val="130000"/>
              </a:lnSpc>
              <a:spcBef>
                <a:spcPts val="0"/>
              </a:spcBef>
              <a:spcAft>
                <a:spcPts val="0"/>
              </a:spcAft>
              <a:defRPr sz="1439" b="0">
                <a:solidFill>
                  <a:srgbClr val="A9BAC4"/>
                </a:solidFill>
                <a:latin typeface="Noto Sans"/>
              </a:defRPr>
            </a:pPr>
            <a:r>
              <a:t>5 Refresh a background report</a:t>
            </a:r>
          </a:p>
        </p:txBody>
      </p:sp>
      <p:sp>
        <p:nvSpPr>
          <p:cNvPr id="12" name="Rounded Rectangle 11"/>
          <p:cNvSpPr/>
          <p:nvPr/>
        </p:nvSpPr>
        <p:spPr>
          <a:xfrm>
            <a:off x="6324600" y="1943100"/>
            <a:ext cx="5410200" cy="2819400"/>
          </a:xfrm>
          <a:prstGeom prst="roundRect">
            <a:avLst>
              <a:gd name="adj" fmla="val 6000"/>
            </a:avLst>
          </a:prstGeom>
          <a:solidFill>
            <a:srgbClr val="19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4600" y="1943100"/>
            <a:ext cx="38100" cy="2819400"/>
          </a:xfrm>
          <a:prstGeom prst="rect">
            <a:avLst/>
          </a:prstGeom>
          <a:solidFill>
            <a:srgbClr val="91B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5100" y="2141220"/>
            <a:ext cx="5090160" cy="388620"/>
          </a:xfrm>
          <a:prstGeom prst="rect">
            <a:avLst/>
          </a:prstGeom>
          <a:noFill/>
        </p:spPr>
        <p:txBody>
          <a:bodyPr wrap="none" lIns="0" rIns="0" tIns="0" bIns="0">
            <a:spAutoFit/>
          </a:bodyPr>
          <a:lstStyle/>
          <a:p>
            <a:pPr>
              <a:lnSpc>
                <a:spcPct val="130000"/>
              </a:lnSpc>
              <a:spcBef>
                <a:spcPts val="0"/>
              </a:spcBef>
              <a:spcAft>
                <a:spcPts val="0"/>
              </a:spcAft>
              <a:defRPr sz="1800" b="1">
                <a:solidFill>
                  <a:srgbClr val="F4F2EB"/>
                </a:solidFill>
                <a:latin typeface="Noto Sans"/>
              </a:defRPr>
            </a:pPr>
            <a:r>
              <a:t>PLATFORM WALKTHROUGH</a:t>
            </a:r>
          </a:p>
        </p:txBody>
      </p:sp>
      <p:sp>
        <p:nvSpPr>
          <p:cNvPr id="15" name="TextBox 14"/>
          <p:cNvSpPr txBox="1"/>
          <p:nvPr/>
        </p:nvSpPr>
        <p:spPr>
          <a:xfrm>
            <a:off x="6515100" y="2560320"/>
            <a:ext cx="5090160" cy="1272540"/>
          </a:xfrm>
          <a:prstGeom prst="rect">
            <a:avLst/>
          </a:prstGeom>
          <a:noFill/>
        </p:spPr>
        <p:txBody>
          <a:bodyPr wrap="none" lIns="0" rIns="0" tIns="0" bIns="0">
            <a:spAutoFit/>
          </a:bodyPr>
          <a:lstStyle/>
          <a:p>
            <a:pPr>
              <a:lnSpc>
                <a:spcPct val="130000"/>
              </a:lnSpc>
              <a:spcBef>
                <a:spcPts val="0"/>
              </a:spcBef>
              <a:spcAft>
                <a:spcPts val="0"/>
              </a:spcAft>
              <a:defRPr sz="1439" b="0">
                <a:solidFill>
                  <a:srgbClr val="A9BAC4"/>
                </a:solidFill>
                <a:latin typeface="Noto Sans"/>
              </a:defRPr>
            </a:pPr>
            <a:r>
              <a:t>1 Run backend and frontend checks</a:t>
            </a:r>
          </a:p>
          <a:p>
            <a:pPr>
              <a:lnSpc>
                <a:spcPct val="130000"/>
              </a:lnSpc>
              <a:spcBef>
                <a:spcPts val="0"/>
              </a:spcBef>
              <a:spcAft>
                <a:spcPts val="0"/>
              </a:spcAft>
              <a:defRPr sz="1439" b="0">
                <a:solidFill>
                  <a:srgbClr val="A9BAC4"/>
                </a:solidFill>
                <a:latin typeface="Noto Sans"/>
              </a:defRPr>
            </a:pPr>
            <a:r>
              <a:t>2 Build containers and install Helm</a:t>
            </a:r>
          </a:p>
          <a:p>
            <a:pPr>
              <a:lnSpc>
                <a:spcPct val="130000"/>
              </a:lnSpc>
              <a:spcBef>
                <a:spcPts val="0"/>
              </a:spcBef>
              <a:spcAft>
                <a:spcPts val="0"/>
              </a:spcAft>
              <a:defRPr sz="1439" b="0">
                <a:solidFill>
                  <a:srgbClr val="A9BAC4"/>
                </a:solidFill>
                <a:latin typeface="Noto Sans"/>
              </a:defRPr>
            </a:pPr>
            <a:r>
              <a:t>3 Verify persistence and recovery</a:t>
            </a:r>
          </a:p>
          <a:p>
            <a:pPr>
              <a:lnSpc>
                <a:spcPct val="130000"/>
              </a:lnSpc>
              <a:spcBef>
                <a:spcPts val="0"/>
              </a:spcBef>
              <a:spcAft>
                <a:spcPts val="0"/>
              </a:spcAft>
              <a:defRPr sz="1439" b="0">
                <a:solidFill>
                  <a:srgbClr val="A9BAC4"/>
                </a:solidFill>
                <a:latin typeface="Noto Sans"/>
              </a:defRPr>
            </a:pPr>
            <a:r>
              <a:t>4 Capture monitoring and GitOps</a:t>
            </a:r>
          </a:p>
          <a:p>
            <a:pPr>
              <a:lnSpc>
                <a:spcPct val="130000"/>
              </a:lnSpc>
              <a:spcBef>
                <a:spcPts val="0"/>
              </a:spcBef>
              <a:spcAft>
                <a:spcPts val="0"/>
              </a:spcAft>
              <a:defRPr sz="1439" b="0">
                <a:solidFill>
                  <a:srgbClr val="A9BAC4"/>
                </a:solidFill>
                <a:latin typeface="Noto Sans"/>
              </a:defRPr>
            </a:pPr>
            <a:r>
              <a:t>5 Plan/apply cloud only with access</a:t>
            </a:r>
          </a:p>
        </p:txBody>
      </p:sp>
      <p:sp>
        <p:nvSpPr>
          <p:cNvPr id="16" name="TextBox 15"/>
          <p:cNvSpPr txBox="1"/>
          <p:nvPr/>
        </p:nvSpPr>
        <p:spPr>
          <a:xfrm>
            <a:off x="495299" y="5120640"/>
            <a:ext cx="11109960" cy="441960"/>
          </a:xfrm>
          <a:prstGeom prst="rect">
            <a:avLst/>
          </a:prstGeom>
          <a:noFill/>
        </p:spPr>
        <p:txBody>
          <a:bodyPr wrap="none" lIns="0" rIns="0" tIns="0" bIns="0">
            <a:spAutoFit/>
          </a:bodyPr>
          <a:lstStyle/>
          <a:p>
            <a:pPr>
              <a:lnSpc>
                <a:spcPct val="130000"/>
              </a:lnSpc>
              <a:spcBef>
                <a:spcPts val="0"/>
              </a:spcBef>
              <a:spcAft>
                <a:spcPts val="0"/>
              </a:spcAft>
              <a:defRPr sz="2100" b="1">
                <a:solidFill>
                  <a:srgbClr val="76E0BD"/>
                </a:solidFill>
                <a:latin typeface="Noto Sans"/>
              </a:defRPr>
            </a:pPr>
            <a:r>
              <a:t>Built to explain every stock change—and every release.</a:t>
            </a:r>
          </a:p>
        </p:txBody>
      </p:sp>
      <p:sp>
        <p:nvSpPr>
          <p:cNvPr id="17" name="TextBox 16"/>
          <p:cNvSpPr txBox="1"/>
          <p:nvPr/>
        </p:nvSpPr>
        <p:spPr>
          <a:xfrm>
            <a:off x="495299" y="5882640"/>
            <a:ext cx="11109960" cy="289560"/>
          </a:xfrm>
          <a:prstGeom prst="rect">
            <a:avLst/>
          </a:prstGeom>
          <a:noFill/>
        </p:spPr>
        <p:txBody>
          <a:bodyPr wrap="none" lIns="0" rIns="0" tIns="0" bIns="0">
            <a:spAutoFit/>
          </a:bodyPr>
          <a:lstStyle/>
          <a:p>
            <a:pPr>
              <a:lnSpc>
                <a:spcPct val="130000"/>
              </a:lnSpc>
              <a:spcBef>
                <a:spcPts val="0"/>
              </a:spcBef>
              <a:spcAft>
                <a:spcPts val="0"/>
              </a:spcAft>
              <a:defRPr sz="1200" b="0">
                <a:solidFill>
                  <a:srgbClr val="A9BAC4"/>
                </a:solidFill>
                <a:latin typeface="Noto Sans"/>
              </a:defRPr>
            </a:pPr>
            <a:r>
              <a:t>Reference: Chhavi Ahlawat's OpsPulse for evidence organization; original StockPilot application and visuals.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Inventory, engineered for operations</dc:title>
  <dc:subject>Session 21 DevOps capstone · 24BCS10273</dc:subject>
  <dc:creator>Vimal Kumar Yadav</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